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baf32f12de42ac" /><Relationship Type="http://schemas.openxmlformats.org/officeDocument/2006/relationships/extended-properties" Target="/docProps/app.xml" Id="R74bf6ca1d8d44428" /><Relationship Type="http://schemas.openxmlformats.org/officeDocument/2006/relationships/officeDocument" Target="/ppt/presentation.xml" Id="Re82d2d2f1acd40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4acc4474416429a"/>
  </p:sldMasterIdLst>
  <p:notesMasterIdLst>
    <p:notesMasterId xmlns:r="http://schemas.openxmlformats.org/officeDocument/2006/relationships" r:id="Rdacc092f42be4d0e"/>
  </p:notesMasterIdLst>
  <p:sldIdLst>
    <p:sldId xmlns:r="http://schemas.openxmlformats.org/officeDocument/2006/relationships" id="256" r:id="R7f70c759990043d6"/>
    <p:sldId xmlns:r="http://schemas.openxmlformats.org/officeDocument/2006/relationships" id="257" r:id="R0111a24fb07a4566"/>
    <p:sldId xmlns:r="http://schemas.openxmlformats.org/officeDocument/2006/relationships" id="258" r:id="R505d23777eed4131"/>
    <p:sldId xmlns:r="http://schemas.openxmlformats.org/officeDocument/2006/relationships" id="259" r:id="R8a956128517b45f2"/>
    <p:sldId xmlns:r="http://schemas.openxmlformats.org/officeDocument/2006/relationships" id="260" r:id="R3ee045dd21314097"/>
    <p:sldId xmlns:r="http://schemas.openxmlformats.org/officeDocument/2006/relationships" id="261" r:id="R5d09b8b172664260"/>
    <p:sldId xmlns:r="http://schemas.openxmlformats.org/officeDocument/2006/relationships" id="262" r:id="R4980a57bdf1941e7"/>
    <p:sldId xmlns:r="http://schemas.openxmlformats.org/officeDocument/2006/relationships" id="263" r:id="R8ea18303ebbd4472"/>
    <p:sldId xmlns:r="http://schemas.openxmlformats.org/officeDocument/2006/relationships" id="264" r:id="Rca9df1e7d55945b5"/>
    <p:sldId xmlns:r="http://schemas.openxmlformats.org/officeDocument/2006/relationships" id="265" r:id="R7e2f683ac82848ad"/>
    <p:sldId xmlns:r="http://schemas.openxmlformats.org/officeDocument/2006/relationships" id="266" r:id="Re96c53603e514ca6"/>
    <p:sldId xmlns:r="http://schemas.openxmlformats.org/officeDocument/2006/relationships" id="267" r:id="R630afa3d9f59486e"/>
    <p:sldId xmlns:r="http://schemas.openxmlformats.org/officeDocument/2006/relationships" id="268" r:id="R90de7a7436da419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8b1b5343e23495a" /><Relationship Type="http://schemas.openxmlformats.org/officeDocument/2006/relationships/slideMaster" Target="/ppt/slideMasters/slideMaster1.xml" Id="R64acc4474416429a" /><Relationship Type="http://schemas.openxmlformats.org/officeDocument/2006/relationships/notesMaster" Target="/ppt/notesMasters/notesMaster1.xml" Id="Rdacc092f42be4d0e" /><Relationship Type="http://schemas.openxmlformats.org/officeDocument/2006/relationships/presProps" Target="/ppt/presProps.xml" Id="Rb535af28a9314d62" /><Relationship Type="http://schemas.openxmlformats.org/officeDocument/2006/relationships/tableStyles" Target="/ppt/tableStyles.xml" Id="R78f8e453b3884386" /><Relationship Type="http://schemas.openxmlformats.org/officeDocument/2006/relationships/slide" Target="/ppt/slides/slide1.xml" Id="R7f70c759990043d6" /><Relationship Type="http://schemas.openxmlformats.org/officeDocument/2006/relationships/slide" Target="/ppt/slides/slide2.xml" Id="R0111a24fb07a4566" /><Relationship Type="http://schemas.openxmlformats.org/officeDocument/2006/relationships/slide" Target="/ppt/slides/slide3.xml" Id="R505d23777eed4131" /><Relationship Type="http://schemas.openxmlformats.org/officeDocument/2006/relationships/slide" Target="/ppt/slides/slide4.xml" Id="R8a956128517b45f2" /><Relationship Type="http://schemas.openxmlformats.org/officeDocument/2006/relationships/slide" Target="/ppt/slides/slide5.xml" Id="R3ee045dd21314097" /><Relationship Type="http://schemas.openxmlformats.org/officeDocument/2006/relationships/slide" Target="/ppt/slides/slide6.xml" Id="R5d09b8b172664260" /><Relationship Type="http://schemas.openxmlformats.org/officeDocument/2006/relationships/slide" Target="/ppt/slides/slide7.xml" Id="R4980a57bdf1941e7" /><Relationship Type="http://schemas.openxmlformats.org/officeDocument/2006/relationships/slide" Target="/ppt/slides/slide8.xml" Id="R8ea18303ebbd4472" /><Relationship Type="http://schemas.openxmlformats.org/officeDocument/2006/relationships/slide" Target="/ppt/slides/slide9.xml" Id="Rca9df1e7d55945b5" /><Relationship Type="http://schemas.openxmlformats.org/officeDocument/2006/relationships/slide" Target="/ppt/slides/slide10.xml" Id="R7e2f683ac82848ad" /><Relationship Type="http://schemas.openxmlformats.org/officeDocument/2006/relationships/slide" Target="/ppt/slides/slide11.xml" Id="Re96c53603e514ca6" /><Relationship Type="http://schemas.openxmlformats.org/officeDocument/2006/relationships/slide" Target="/ppt/slides/slide12.xml" Id="R630afa3d9f59486e" /><Relationship Type="http://schemas.openxmlformats.org/officeDocument/2006/relationships/slide" Target="/ppt/slides/slide13.xml" Id="R90de7a7436da41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2b6abd8652496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4df565493454730" /><Relationship Type="http://schemas.openxmlformats.org/officeDocument/2006/relationships/notesMaster" Target="/ppt/notesMasters/notesMaster1.xml" Id="R617272d49093462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6dd091c6024d91" /><Relationship Type="http://schemas.openxmlformats.org/officeDocument/2006/relationships/notesMaster" Target="/ppt/notesMasters/notesMaster1.xml" Id="R5c055aa7368f46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0a7dcfb06c4f5e" /><Relationship Type="http://schemas.openxmlformats.org/officeDocument/2006/relationships/notesMaster" Target="/ppt/notesMasters/notesMaster1.xml" Id="R78f18696be224a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b444938967741af" /><Relationship Type="http://schemas.openxmlformats.org/officeDocument/2006/relationships/notesMaster" Target="/ppt/notesMasters/notesMaster1.xml" Id="R508b1720f6c946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dad65d90c4b81" /><Relationship Type="http://schemas.openxmlformats.org/officeDocument/2006/relationships/notesMaster" Target="/ppt/notesMasters/notesMaster1.xml" Id="Rff61105ce636422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8f948b2e2c4231" /><Relationship Type="http://schemas.openxmlformats.org/officeDocument/2006/relationships/notesMaster" Target="/ppt/notesMasters/notesMaster1.xml" Id="Rf0e4f7989eea4e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352bac500341c5" /><Relationship Type="http://schemas.openxmlformats.org/officeDocument/2006/relationships/notesMaster" Target="/ppt/notesMasters/notesMaster1.xml" Id="R87939edf18bf4be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9524f0ea905407b" /><Relationship Type="http://schemas.openxmlformats.org/officeDocument/2006/relationships/notesMaster" Target="/ppt/notesMasters/notesMaster1.xml" Id="R4cbac421896447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bd644bf9e04294" /><Relationship Type="http://schemas.openxmlformats.org/officeDocument/2006/relationships/notesMaster" Target="/ppt/notesMasters/notesMaster1.xml" Id="Rb512d39669ae4a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96a6106c314c89" /><Relationship Type="http://schemas.openxmlformats.org/officeDocument/2006/relationships/notesMaster" Target="/ppt/notesMasters/notesMaster1.xml" Id="R2a6020cd3dd64c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691d03a68a4417" /><Relationship Type="http://schemas.openxmlformats.org/officeDocument/2006/relationships/notesMaster" Target="/ppt/notesMasters/notesMaster1.xml" Id="R257b330bc8f44c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8d8a4a1256d4fa1" /><Relationship Type="http://schemas.openxmlformats.org/officeDocument/2006/relationships/notesMaster" Target="/ppt/notesMasters/notesMaster1.xml" Id="Ra966e831029745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250e9ca728f4608" /><Relationship Type="http://schemas.openxmlformats.org/officeDocument/2006/relationships/notesMaster" Target="/ppt/notesMasters/notesMaster1.xml" Id="Rc12e1d46f2b045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9b4f0fa1474e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f96ef841624040" /><Relationship Type="http://schemas.openxmlformats.org/officeDocument/2006/relationships/slideLayout" Target="/ppt/slideLayouts/slideLayout1.xml" Id="R42deefcac73a41d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deefcac73a41d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bb109b1924ebf" /><Relationship Type="http://schemas.openxmlformats.org/officeDocument/2006/relationships/image" Target="/ppt/media/image.png" Id="R5fd717c6caa14053" /><Relationship Type="http://schemas.openxmlformats.org/officeDocument/2006/relationships/notesSlide" Target="/ppt/notesSlides/notesSlide1.xml" Id="Re3f2faeaf92c40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55d71b20542fa" /><Relationship Type="http://schemas.openxmlformats.org/officeDocument/2006/relationships/image" Target="/ppt/media/image2.png" Id="R33a9ca0ebcba4e9a" /><Relationship Type="http://schemas.openxmlformats.org/officeDocument/2006/relationships/notesSlide" Target="/ppt/notesSlides/notesSlide2.xml" Id="R72d964020a9e4c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c7f84650d49c6" /><Relationship Type="http://schemas.openxmlformats.org/officeDocument/2006/relationships/image" Target="/ppt/media/image3.png" Id="Rd5d9f671d97240fb" /><Relationship Type="http://schemas.openxmlformats.org/officeDocument/2006/relationships/notesSlide" Target="/ppt/notesSlides/notesSlide3.xml" Id="R4b8a3eba05484f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de7b58b49d4f3c" /><Relationship Type="http://schemas.openxmlformats.org/officeDocument/2006/relationships/image" Target="/ppt/media/image4.png" Id="Red3b4d30de734038" /><Relationship Type="http://schemas.openxmlformats.org/officeDocument/2006/relationships/chart" Target="/ppt/slides/charts/chart1.xml" Id="R64820828956b47dd" /><Relationship Type="http://schemas.openxmlformats.org/officeDocument/2006/relationships/chart" Target="/ppt/slides/charts/chart2.xml" Id="Rfa57f6ad3da44645" /><Relationship Type="http://schemas.openxmlformats.org/officeDocument/2006/relationships/notesSlide" Target="/ppt/notesSlides/notesSlide4.xml" Id="Ra32a5e1400b843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60da3d14de45a2" /><Relationship Type="http://schemas.openxmlformats.org/officeDocument/2006/relationships/image" Target="/ppt/media/image5.png" Id="R284b80ec576b480f" /><Relationship Type="http://schemas.openxmlformats.org/officeDocument/2006/relationships/notesSlide" Target="/ppt/notesSlides/notesSlide5.xml" Id="Rf567771cd4264d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3a903def04a23" /><Relationship Type="http://schemas.openxmlformats.org/officeDocument/2006/relationships/image" Target="/ppt/media/image6.png" Id="R248051b276bf4e5c" /><Relationship Type="http://schemas.openxmlformats.org/officeDocument/2006/relationships/notesSlide" Target="/ppt/notesSlides/notesSlide6.xml" Id="Rad579109b9ad4d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bbc2775504689" /><Relationship Type="http://schemas.openxmlformats.org/officeDocument/2006/relationships/image" Target="/ppt/media/image7.png" Id="R31db0fba037f4ee2" /><Relationship Type="http://schemas.openxmlformats.org/officeDocument/2006/relationships/notesSlide" Target="/ppt/notesSlides/notesSlide7.xml" Id="R583732ea625841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7b2e548744b66" /><Relationship Type="http://schemas.openxmlformats.org/officeDocument/2006/relationships/image" Target="/ppt/media/image8.png" Id="Re5de8ade479f44ae" /><Relationship Type="http://schemas.openxmlformats.org/officeDocument/2006/relationships/chart" Target="/ppt/slides/charts/chart3.xml" Id="R914f86faa2ed4ea2" /><Relationship Type="http://schemas.openxmlformats.org/officeDocument/2006/relationships/notesSlide" Target="/ppt/notesSlides/notesSlide8.xml" Id="R95d0d1adb1134b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e5e194c254d95" /><Relationship Type="http://schemas.openxmlformats.org/officeDocument/2006/relationships/image" Target="/ppt/media/image9.png" Id="R3f3a5fa2b76f405e" /><Relationship Type="http://schemas.openxmlformats.org/officeDocument/2006/relationships/notesSlide" Target="/ppt/notesSlides/notesSlide9.xml" Id="Rd641692591414b9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b894cad7144555" /><Relationship Type="http://schemas.openxmlformats.org/officeDocument/2006/relationships/image" Target="/ppt/media/image10.png" Id="R3ca3492b9c094578" /><Relationship Type="http://schemas.openxmlformats.org/officeDocument/2006/relationships/notesSlide" Target="/ppt/notesSlides/notesSlide10.xml" Id="R7803cec2d5a6481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0353623b8949eb" /><Relationship Type="http://schemas.openxmlformats.org/officeDocument/2006/relationships/image" Target="/ppt/media/image11.png" Id="R3fa05bd45acd4087" /><Relationship Type="http://schemas.openxmlformats.org/officeDocument/2006/relationships/chart" Target="/ppt/slides/charts/chart4.xml" Id="R5efb29c26d5d4923" /><Relationship Type="http://schemas.openxmlformats.org/officeDocument/2006/relationships/notesSlide" Target="/ppt/notesSlides/notesSlide11.xml" Id="R81ab5094fb624c5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e828a1a654a83" /><Relationship Type="http://schemas.openxmlformats.org/officeDocument/2006/relationships/image" Target="/ppt/media/image12.png" Id="Rebb6ca5813014eee" /><Relationship Type="http://schemas.openxmlformats.org/officeDocument/2006/relationships/notesSlide" Target="/ppt/notesSlides/notesSlide12.xml" Id="R5bea6e03957646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9068413994cc9" /><Relationship Type="http://schemas.openxmlformats.org/officeDocument/2006/relationships/image" Target="/ppt/media/image13.png" Id="R81833205d36c401b" /><Relationship Type="http://schemas.openxmlformats.org/officeDocument/2006/relationships/notesSlide" Target="/ppt/notesSlides/notesSlide13.xml" Id="Rae56ca9deac342e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Open actions</c:v>
          </c:tx>
          <c:spPr>
            <a:solidFill xmlns:a="http://schemas.openxmlformats.org/drawingml/2006/main">
              <a:srgbClr val="1D9E75"/>
            </a:solidFill>
          </c:spPr>
          <c:marker>
            <c:symbol val="none"/>
          </c:marker>
          <c:dLbls/>
          <c:cat>
            <c:strLit>
              <c:ptCount val="6"/>
              <c:pt idx="0">
                <c:v>Jan</c:v>
              </c:pt>
              <c:pt idx="1">
                <c:v>Feb</c:v>
              </c:pt>
              <c:pt idx="2">
                <c:v>Mar</c:v>
              </c:pt>
              <c:pt idx="3">
                <c:v>Apr</c:v>
              </c:pt>
              <c:pt idx="4">
                <c:v>May</c:v>
              </c:pt>
              <c:pt idx="5">
                <c:v>Jun</c:v>
              </c:pt>
            </c:strLit>
          </c:cat>
          <c:val>
            <c:numLit>
              <c:formatCode>General</c:formatCode>
              <c:ptCount val="6"/>
              <c:pt idx="0">
                <c:v>18</c:v>
              </c:pt>
              <c:pt idx="1">
                <c:v>22</c:v>
              </c:pt>
              <c:pt idx="2">
                <c:v>20</c:v>
              </c:pt>
              <c:pt idx="3">
                <c:v>17</c:v>
              </c:pt>
              <c:pt idx="4">
                <c:v>14</c:v>
              </c:pt>
              <c:pt idx="5">
                <c:v>9</c:v>
              </c:pt>
            </c:numLit>
          </c:val>
          <c:smooth val="0"/>
        </c:ser>
        <c:dLbls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8F0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Records</c:v>
          </c:tx>
          <c:spPr>
            <a:solidFill xmlns:a="http://schemas.openxmlformats.org/drawingml/2006/main">
              <a:srgbClr val="185FA5"/>
            </a:solidFill>
          </c:spPr>
          <c:dLbls/>
          <c:cat>
            <c:strLit>
              <c:ptCount val="5"/>
              <c:pt idx="0">
                <c:v>Incidents</c:v>
              </c:pt>
              <c:pt idx="1">
                <c:v>BBS</c:v>
              </c:pt>
              <c:pt idx="2">
                <c:v>PTW</c:v>
              </c:pt>
              <c:pt idx="3">
                <c:v>Legal</c:v>
              </c:pt>
              <c:pt idx="4">
                <c:v>Chemicals</c:v>
              </c:pt>
            </c:strLit>
          </c:cat>
          <c:val>
            <c:numLit>
              <c:formatCode>General</c:formatCode>
              <c:ptCount val="5"/>
              <c:pt idx="0">
                <c:v>12</c:v>
              </c:pt>
              <c:pt idx="1">
                <c:v>38</c:v>
              </c:pt>
              <c:pt idx="2">
                <c:v>16</c:v>
              </c:pt>
              <c:pt idx="3">
                <c:v>80</c:v>
              </c:pt>
              <c:pt idx="4">
                <c:v>24</c:v>
              </c:pt>
            </c:numLit>
          </c:val>
        </c:ser>
        <c:dLbls>
          <c:dLblPos val="outEnd"/>
          <c:showVal val="1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varyColors val="0"/>
        <c:ser>
          <c:idx val="0"/>
          <c:order val="0"/>
          <c:tx>
            <c:v>Coverage</c:v>
          </c:tx>
          <c:spPr>
            <a:solidFill xmlns:a="http://schemas.openxmlformats.org/drawingml/2006/main">
              <a:srgbClr val="1D9E75"/>
            </a:solidFill>
          </c:spPr>
          <c:dLbls/>
          <c:cat>
            <c:strLit>
              <c:ptCount val="5"/>
              <c:pt idx="0">
                <c:v>Legal</c:v>
              </c:pt>
              <c:pt idx="1">
                <c:v>Chemicals</c:v>
              </c:pt>
              <c:pt idx="2">
                <c:v>Training</c:v>
              </c:pt>
              <c:pt idx="3">
                <c:v>PPE</c:v>
              </c:pt>
              <c:pt idx="4">
                <c:v>Health</c:v>
              </c:pt>
            </c:strLit>
          </c:cat>
          <c:val>
            <c:numLit>
              <c:formatCode>General</c:formatCode>
              <c:ptCount val="5"/>
              <c:pt idx="0">
                <c:v>92</c:v>
              </c:pt>
              <c:pt idx="1">
                <c:v>76</c:v>
              </c:pt>
              <c:pt idx="2">
                <c:v>84</c:v>
              </c:pt>
              <c:pt idx="3">
                <c:v>88</c:v>
              </c:pt>
              <c:pt idx="4">
                <c:v>69</c:v>
              </c:pt>
            </c:numLit>
          </c:val>
        </c:ser>
        <c:ser>
          <c:idx val="1"/>
          <c:order val="1"/>
          <c:tx>
            <c:v>Risk exposure</c:v>
          </c:tx>
          <c:spPr>
            <a:solidFill xmlns:a="http://schemas.openxmlformats.org/drawingml/2006/main">
              <a:srgbClr val="F59E0B"/>
            </a:solidFill>
          </c:spPr>
          <c:dLbls/>
          <c:cat>
            <c:strLit>
              <c:ptCount val="5"/>
              <c:pt idx="0">
                <c:v>Legal</c:v>
              </c:pt>
              <c:pt idx="1">
                <c:v>Chemicals</c:v>
              </c:pt>
              <c:pt idx="2">
                <c:v>Training</c:v>
              </c:pt>
              <c:pt idx="3">
                <c:v>PPE</c:v>
              </c:pt>
              <c:pt idx="4">
                <c:v>Health</c:v>
              </c:pt>
            </c:strLit>
          </c:cat>
          <c:val>
            <c:numLit>
              <c:formatCode>General</c:formatCode>
              <c:ptCount val="5"/>
              <c:pt idx="0">
                <c:v>22</c:v>
              </c:pt>
              <c:pt idx="1">
                <c:v>55</c:v>
              </c:pt>
              <c:pt idx="2">
                <c:v>31</c:v>
              </c:pt>
              <c:pt idx="3">
                <c:v>26</c:v>
              </c:pt>
              <c:pt idx="4">
                <c:v>42</c:v>
              </c:pt>
            </c:numLit>
          </c:val>
        </c:ser>
        <c:dLbls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radarChart>
        <c:radarStyle val="standard"/>
        <c:ser>
          <c:idx val="0"/>
          <c:order val="0"/>
          <c:tx>
            <c:v>Typical point solution</c:v>
          </c:tx>
          <c:spPr>
            <a:solidFill xmlns:a="http://schemas.openxmlformats.org/drawingml/2006/main">
              <a:srgbClr val="94A3B8"/>
            </a:solidFill>
          </c:spPr>
          <c:dLbls/>
          <c:cat>
            <c:strLit>
              <c:ptCount val="6"/>
              <c:pt idx="0">
                <c:v>Coverage</c:v>
              </c:pt>
              <c:pt idx="1">
                <c:v>Governance</c:v>
              </c:pt>
              <c:pt idx="2">
                <c:v>Field use</c:v>
              </c:pt>
              <c:pt idx="3">
                <c:v>Evidence</c:v>
              </c:pt>
              <c:pt idx="4">
                <c:v>AI</c:v>
              </c:pt>
              <c:pt idx="5">
                <c:v>Scalability</c:v>
              </c:pt>
            </c:strLit>
          </c:cat>
          <c:val>
            <c:numLit>
              <c:formatCode>General</c:formatCode>
              <c:ptCount val="6"/>
              <c:pt idx="0">
                <c:v>45</c:v>
              </c:pt>
              <c:pt idx="1">
                <c:v>40</c:v>
              </c:pt>
              <c:pt idx="2">
                <c:v>55</c:v>
              </c:pt>
              <c:pt idx="3">
                <c:v>45</c:v>
              </c:pt>
              <c:pt idx="4">
                <c:v>15</c:v>
              </c:pt>
              <c:pt idx="5">
                <c:v>35</c:v>
              </c:pt>
            </c:numLit>
          </c:val>
        </c:ser>
        <c:ser>
          <c:idx val="1"/>
          <c:order val="1"/>
          <c:tx>
            <c:v>AURIS360 vision</c:v>
          </c:tx>
          <c:spPr>
            <a:solidFill xmlns:a="http://schemas.openxmlformats.org/drawingml/2006/main">
              <a:srgbClr val="1D9E75"/>
            </a:solidFill>
          </c:spPr>
          <c:dLbls/>
          <c:cat>
            <c:strLit>
              <c:ptCount val="6"/>
              <c:pt idx="0">
                <c:v>Coverage</c:v>
              </c:pt>
              <c:pt idx="1">
                <c:v>Governance</c:v>
              </c:pt>
              <c:pt idx="2">
                <c:v>Field use</c:v>
              </c:pt>
              <c:pt idx="3">
                <c:v>Evidence</c:v>
              </c:pt>
              <c:pt idx="4">
                <c:v>AI</c:v>
              </c:pt>
              <c:pt idx="5">
                <c:v>Scalability</c:v>
              </c:pt>
            </c:strLit>
          </c:cat>
          <c:val>
            <c:numLit>
              <c:formatCode>General</c:formatCode>
              <c:ptCount val="6"/>
              <c:pt idx="0">
                <c:v>92</c:v>
              </c:pt>
              <c:pt idx="1">
                <c:v>88</c:v>
              </c:pt>
              <c:pt idx="2">
                <c:v>82</c:v>
              </c:pt>
              <c:pt idx="3">
                <c:v>90</c:v>
              </c:pt>
              <c:pt idx="4">
                <c:v>86</c:v>
              </c:pt>
              <c:pt idx="5">
                <c:v>84</c:v>
              </c:pt>
            </c:numLit>
          </c:val>
        </c:ser>
        <c:dLbls/>
        <c:axId val="48650112"/>
        <c:axId val="48672768"/>
      </c:rad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496534-4DD9-4730-9DEA-266A6003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827"/>
          </a:solidFill>
          <a:ln xmlns:a="http://schemas.openxmlformats.org/drawingml/2006/main" w="0">
            <a:solidFill>
              <a:srgbClr val="07182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FD8C4-8552-4BF2-9638-8061C0D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F3B"/>
          </a:solidFill>
          <a:ln xmlns:a="http://schemas.openxmlformats.org/drawingml/2006/main" w="0">
            <a:solidFill>
              <a:srgbClr val="0B2F3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d717c6caa14053"/>
          <a:stretch xmlns:a="http://schemas.openxmlformats.org/drawingml/2006/main"/>
        </p:blipFill>
        <p:spPr>
          <a:xfrm xmlns:a="http://schemas.openxmlformats.org/drawingml/2006/main">
            <a:off x="666750" y="4762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0D335-317C-4649-B383-F738F5F1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15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AFCEE-4134-4FEA-93F8-35E20D3D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The HSE operating system for safer, smarter organisations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72715-7518-4A24-A2CB-C9671E5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609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E6EA"/>
                </a:solidFill>
              </a:defRPr>
            </a:pPr>
            <a:r>
              <a:rPr sz="1725" b="0">
                <a:solidFill>
                  <a:srgbClr val="D6E6EA"/>
                </a:solidFill>
              </a:rPr>
              <a:t>AURIS360 connects people, risks, permits, compliance, evidence, actions and AI into one management platform.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F41631-D9F5-4999-A2B1-019CA4D6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29125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B4C"/>
          </a:solidFill>
          <a:ln xmlns:a="http://schemas.openxmlformats.org/drawingml/2006/main" w="9525">
            <a:solidFill>
              <a:srgbClr val="103B4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37C497-FAC6-4B94-88DB-21D99AC4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05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9FE6D6"/>
                </a:solidFill>
              </a:defRPr>
            </a:pPr>
            <a:r>
              <a:rPr sz="900" b="1">
                <a:solidFill>
                  <a:srgbClr val="9FE6D6"/>
                </a:solidFill>
              </a:rPr>
              <a:t>Client showcase deck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451C02-1214-4070-BA49-DD0597FD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876300"/>
            <a:ext cx="3714750" cy="4857750"/>
          </a:xfrm>
          <a:prstGeom xmlns:a="http://schemas.openxmlformats.org/drawingml/2006/main" prst="roundRect">
            <a:avLst>
              <a:gd name="adj" fmla="val 410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1B4D5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E5362C-D107-45D9-A509-096C20E47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1620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</a:defRPr>
            </a:pPr>
            <a:r>
              <a:rPr sz="1500" b="1">
                <a:solidFill>
                  <a:srgbClr val="0F172A"/>
                </a:solidFill>
              </a:rPr>
              <a:t>Live HSE cockpit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1AB39-C02D-4F71-87B3-171D7DC7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142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F0408F-65DA-47DA-9B8A-CD1F80D0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7907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OPEN 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6D767-0D49-4D51-82F4-5E22AD76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383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C2626"/>
                </a:solidFill>
              </a:defRPr>
            </a:pPr>
            <a:r>
              <a:rPr sz="2850" b="1">
                <a:solidFill>
                  <a:srgbClr val="DC2626"/>
                </a:solidFill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B09464-7C5A-4030-9E4F-FD1E84F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955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6 overdue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72BC5-F381-48C8-A5B8-8079CEE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619250"/>
            <a:ext cx="142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94783-609F-41BF-9CD3-583D9ED1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7907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TRAINING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4AEE2-5206-452D-BE0E-931EBFEF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0383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9E75"/>
                </a:solidFill>
              </a:defRPr>
            </a:pPr>
            <a:r>
              <a:rPr sz="2850" b="1">
                <a:solidFill>
                  <a:srgbClr val="1D9E75"/>
                </a:solidFill>
              </a:rPr>
              <a:t>84%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338037-9529-4D19-BE22-ECF028B1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24955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workforce certified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35F1B2-1040-4DF6-A4F2-08AFAEC1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143250"/>
            <a:ext cx="142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FC1BC-CCF0-40B1-9078-429AD3F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3147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LEGAL SCORE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297F5F-F672-4320-83DC-CDCFAF8A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5623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5FA5"/>
                </a:solidFill>
              </a:defRPr>
            </a:pPr>
            <a:r>
              <a:rPr sz="2850" b="1">
                <a:solidFill>
                  <a:srgbClr val="185FA5"/>
                </a:solidFill>
              </a:rPr>
              <a:t>92%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514476-A5EC-480D-84DB-DD76511C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0195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compliance register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C45FC6-2136-4C7D-9E43-F64A3699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143250"/>
            <a:ext cx="142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12BD4-8C4C-463A-B071-2BC5778E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314700"/>
            <a:ext cx="108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AI RISK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30F2BE-2E04-4456-AE29-8E2632C6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3562350"/>
            <a:ext cx="1085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C3AED"/>
                </a:solidFill>
              </a:defRPr>
            </a:pPr>
            <a:r>
              <a:rPr sz="2850" b="1">
                <a:solidFill>
                  <a:srgbClr val="7C3AED"/>
                </a:solidFill>
              </a:rPr>
              <a:t>High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5D4A32-15AE-4FD9-B72A-25DB9D1A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40195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3 priority themes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016A5-2549-40CC-A1E4-986E6754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497205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Incidents • BBS • Risk • PTW • Legal • Chemicals • Audit Trail • AI</a:t>
            </a:r>
          </a:p>
        </p:txBody>
      </p:sp>
    </p:spTree>
    <p:extLst>
      <p:ext uri="{BB962C8B-B14F-4D97-AF65-F5344CB8AC3E}">
        <p14:creationId xmlns:p14="http://schemas.microsoft.com/office/powerpoint/2010/main" val="76294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9ca0ebcba4e9a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90A46E-6DCB-49A8-B9E1-C148B0B3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06DC9-2633-47C7-9DA6-8DAAC485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F58A7-81DA-45D5-ABCD-F2D3188F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AURIS360 gives leaders a 360-degree view of HSE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FCF02-A4D1-445A-A5AA-E22FA173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7DEB7-4784-44CB-99DB-D2E92811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The platform is designed around the real HSE cycle: capture events, understand risk, assign action, verify control, prove compliance, and learn from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2ACF83-D9AF-4EBC-B7F5-0C3EC026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857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1F5E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BDD92-390F-464D-AD39-876C8FE1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D9E75"/>
                </a:solidFill>
              </a:defRPr>
            </a:pPr>
            <a:r>
              <a:rPr sz="1650" b="1">
                <a:solidFill>
                  <a:srgbClr val="1D9E7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949CB6-CC27-4C58-B962-716D0CE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Capture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CF33D-23ED-43D5-B815-9E6280E9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100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Field reports, photos, observations, permits and inspections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5D6F83-A408-4EF6-9A0B-791C2A06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238500"/>
            <a:ext cx="1857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29A9B-F8F5-467E-B950-07D82F21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29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5FA5"/>
                </a:solidFill>
              </a:defRPr>
            </a:pPr>
            <a:r>
              <a:rPr sz="1650" b="1">
                <a:solidFill>
                  <a:srgbClr val="185FA5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4FE13A-0E16-43A7-A082-09AE5EAD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Assess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28B167-57EF-4E72-858D-E9F79605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100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Risk, severity, legal duties, exposure and priorities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96B7C-29F4-4DC6-AAF3-2596CEEF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38500"/>
            <a:ext cx="1857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A1CCD3-40A6-470E-91BF-BB9468C6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29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9E0B"/>
                </a:solidFill>
              </a:defRPr>
            </a:pPr>
            <a:r>
              <a:rPr sz="1650" b="1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DB2D7-E7C2-496F-9417-76740E71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Act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E69BA-0E48-4B9D-9838-2F74270E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100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Owners, due dates, approvals, escalation and 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B8D5F9-2FA7-42BE-9286-81072677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38500"/>
            <a:ext cx="1857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5C238E-98BA-48D6-8FDD-7775DE78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C3AED"/>
                </a:solidFill>
              </a:defRPr>
            </a:pPr>
            <a:r>
              <a:rPr sz="1650" b="1">
                <a:solidFill>
                  <a:srgbClr val="7C3AED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B0C487-A214-4471-9D5C-ADAD9B46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8DEA2-42C8-4A0E-B448-7756F3C19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100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Evidence, documents, audit trail and executive reporting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B9CFA1-29AF-4519-A405-CC854A65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38500"/>
            <a:ext cx="18573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96A35-3250-487E-A65E-1A92156C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4290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2626"/>
                </a:solidFill>
              </a:defRPr>
            </a:pPr>
            <a:r>
              <a:rPr sz="1650" b="1">
                <a:solidFill>
                  <a:srgbClr val="DC2626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4D891-9B37-492B-92A0-8BA455A76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290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Learn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1166D-759D-4D12-9667-9600692B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210050"/>
            <a:ext cx="147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Dashboards, AI insights, trends and predictive signals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242D2E-5A6E-4F37-BAB8-CB2BAF068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F172A"/>
                </a:solidFill>
              </a:defRPr>
            </a:pPr>
            <a:r>
              <a:rPr sz="2250" b="1">
                <a:solidFill>
                  <a:srgbClr val="0F172A"/>
                </a:solidFill>
              </a:rPr>
              <a:t>Result: HSE moves from scattered records to visible control.</a:t>
            </a:r>
          </a:p>
        </p:txBody>
      </p:sp>
    </p:spTree>
    <p:extLst>
      <p:ext uri="{BB962C8B-B14F-4D97-AF65-F5344CB8AC3E}">
        <p14:creationId xmlns:p14="http://schemas.microsoft.com/office/powerpoint/2010/main" val="6072378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d9f671d97240fb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CF69B-787D-4E5A-BABD-82C4C281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865DD-411A-4E47-8F8D-C463052D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D7C9"/>
                </a:solidFill>
              </a:defRPr>
            </a:pPr>
            <a:r>
              <a:rPr sz="825" b="1">
                <a:solidFill>
                  <a:srgbClr val="9DD7C9"/>
                </a:solidFill>
              </a:rPr>
              <a:t>PLATFORM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ED7A2-2FE4-460D-AF39-23C1FA3F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AURIS360 ecosystem covers the full HSE operating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5D758C-8A85-4882-A035-D1CC9C2C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8C"/>
          </a:solidFill>
          <a:ln xmlns:a="http://schemas.openxmlformats.org/drawingml/2006/main" w="0">
            <a:solidFill>
              <a:srgbClr val="00C4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531BE-2E30-4F09-89B2-B580945C6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4D470-0A5D-411D-80BD-70401A42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24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7CA5B-3919-40DB-91CE-1048E28D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9EEA2-9CA8-4622-80F3-32B765411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0002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0951A2-E5DC-4856-911D-F633F8F7A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124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EF4C3-4DD1-4F76-BCA0-778AA4B3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1145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Executive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2B2D6-2824-4AEF-A394-956A80C99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7ADC2A-F8D9-4723-ACCF-D685C9C8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24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8ACB1F-B780-48A6-8953-BF025AE40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AI Insights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836AC6-F9E6-406B-B5A0-79EC3A5B8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0002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1E729E-2105-45D5-9E56-F4746122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240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C554E4-E524-4E25-A37C-24C974A7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145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Objectives &amp; KPIs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F72CA-647D-4160-8B15-DE3BFA32C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A8927-B7AF-44DE-90A4-2BE97F9C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8DC15D-E74D-4C67-BF38-9A33DDF1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Incidents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01A9B2-5F5B-4C4F-B0DC-48140839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955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F6DE8C-4CA0-4569-9BB5-02519769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619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90818-4C6A-4F52-9E3D-39D0E300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26098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BBS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171009-0E52-46A2-AD2A-32C381C9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955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37C0D-0DD2-42A7-8D78-F9E2B857F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19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2FAEFB-4B4D-47FB-B927-D028052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98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Audits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1A58B-0FD3-4A64-A7EC-A784BA45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955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E8F2055-EFB4-42CB-BE3A-1E577E9E3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193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D6A807-C603-4E15-A52B-AA682330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098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Risk Assessment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C4627A-324E-4827-8921-471DCBD2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EEDB00-3DBD-4D9C-AFBB-54D0EBEA2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B5192F-DC02-4ACD-87AC-08F3B621D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051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PTW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9440BF-2B44-4F8B-BA13-3899B66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908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8C84D9-3434-49CC-8887-282D135E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solidFill>
              <a:srgbClr val="0891B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040D46-A482-445B-BF40-15A3C6F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1051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Contractors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CBFDF9-67CA-4130-8A5B-E2CD8B6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908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60356B-3E74-424F-9A22-2C5B847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B22EA-CD01-4857-B080-A5869418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051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Emergency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DC35DD-9C1F-4678-9E9A-BD4ED7C5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908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E7BD6B-8CA3-4935-97E7-EC474350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1146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044739-98A2-4D8F-99C2-8542177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051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Occupational Health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23F1C4-7F4D-4AAB-AA89-4E04A361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F84AD0-746C-49E6-9F1E-5B237FF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9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8F3275-CE88-4533-8B0C-2CDEC7AA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04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PPE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C0C5C6-B3CC-4916-9FFE-B6A2A1C9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4861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43FF067-8AAD-43E2-B964-E515FAA9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09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55CB6C-5829-4447-AB70-2C3B57A6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6004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Fire Certificates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39ED4D2-ADBA-4D59-9C83-1C81CECC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861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52674A-DA65-40A1-8302-6BB07F816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09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4E6C7AC-D7E7-4213-8B17-F0533DA2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004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Chemical Control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E6ECA8-DA88-4943-BEEE-FB4EAC80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861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493C662-316A-4127-998B-209B7034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099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2012E6-E876-4ADE-9A6E-37A0384DD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6004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Environmental / ESG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75045B-3168-45A6-B341-203DE227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7A6B402-9772-403C-A3DB-85DF3359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EC0D468-AED8-47DB-9026-CCB17FD0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Noise Survey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5124961-151F-41AE-B9B8-3877ED8F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814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2009EE9-B902-451A-9134-C103F95C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DD6A8E4-8CF8-4692-A622-8F29A7CC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0957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Meetings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8F41C01-7558-48FD-8F55-7BEBB786E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9814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9252F4D-13E4-472C-A705-D7F9FF8E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2FAE60-9172-465B-95A9-3A64BBEA3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0957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Training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429BEB-5AE7-476E-A7DB-FE12229E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9814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BF467F-5640-4B11-A408-96BB1C260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052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B689F38-6FC5-4C99-8611-F0829FA8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0957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Master Action Plan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4319473-D85A-46DE-A0EA-4D2ACE38B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B76B425-55ED-425A-8DEB-9C015605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C1EAE77-5682-4B41-9927-F3307092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910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Legal Compliance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E5B7158-4541-4CCE-8485-C4A5A782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4767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C4F6F9B-874E-4BE0-9500-4EA8EEE3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600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DF8A17-BA25-4A59-AF03-97B52A6B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45910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SOP Generator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3AF9EC-9DA9-432F-897C-742AE71CF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4767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74C0D82-791E-419F-8334-BC3BCD5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00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D09728E-33C1-4E4C-8622-479181F12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910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Document Control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04BC550-44AC-4BF8-9E8E-33A0BBAD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767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FB37A19-7722-4FE5-AB2C-8BB49678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6005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9A1CA8-C802-4F28-9E92-8FDBBAC35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45910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People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899873F-2397-4875-8DED-6A8AD4E9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EC90D74-D483-4016-A078-D2982A4F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95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 w="0">
            <a:solidFill>
              <a:srgbClr val="64748B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67449D6-3851-4E56-B6BB-9C59A0E8E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863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Users &amp; Roles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B8B1045-13FF-44AE-BABE-BCC333AA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720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DF7737C-A855-4AFD-8272-F1930DDF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095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B45A80-DF31-460A-B11A-61FA0118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0863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Companies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C23DDEA-292A-4D52-919E-A012B122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9720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AA8C063-0880-48C4-A27A-CF09A65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95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4640FCB-0B7C-4D33-A75D-23DFE8F7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863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Integrations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3E01C1C-1E0B-48FB-A562-B745E796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9720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B0A944-32F3-48B1-B3DA-7B843E1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0958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16B2BAD-3483-4888-A427-5658B19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0863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Approval Center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C228579-0D79-4B5E-889B-79D5A9FF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673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5805A82-06D5-48C8-AF21-F7DC0EC5A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1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ECEC7AB-8FAA-4934-B3F6-8F6DD977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5816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Audit Trail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430021-17F3-4CEA-8B1F-52950BB0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4673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B31B38-DE02-4243-8362-4B4FC32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591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5FA5"/>
          </a:solidFill>
          <a:ln xmlns:a="http://schemas.openxmlformats.org/drawingml/2006/main" w="0">
            <a:solidFill>
              <a:srgbClr val="185FA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3F0D36-DBF0-4622-A2DD-2330649E5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55816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Fleet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3C05BA-E71D-44E3-9E01-C398EFA1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4673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34A023-D169-4805-8154-BA04AE86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91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8620FC6-7E28-4C61-A377-8348A5F8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816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ATEX Areas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2C81143-7F2F-4BB3-88FA-5CC5E3DF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467350"/>
            <a:ext cx="233362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CC95ED1-F4E6-407F-8020-AAAF6A36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9117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solidFill>
              <a:srgbClr val="7C3AED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4431213-5CA2-4982-9165-386EF27E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5581650"/>
            <a:ext cx="19335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F172A"/>
                </a:solidFill>
              </a:defRPr>
            </a:pPr>
            <a:r>
              <a:rPr sz="938" b="1">
                <a:solidFill>
                  <a:srgbClr val="0F172A"/>
                </a:solidFill>
              </a:rPr>
              <a:t>RCD Testing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ACC3A23-DA9E-4DAA-A93B-E3CEA67F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6048375"/>
            <a:ext cx="7239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48"/>
          </a:solidFill>
          <a:ln xmlns:a="http://schemas.openxmlformats.org/drawingml/2006/main" w="9525">
            <a:solidFill>
              <a:srgbClr val="123548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FDDCCBC-E1FD-4464-AB5D-71FC0E37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124575"/>
            <a:ext cx="704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CEFE1"/>
                </a:solidFill>
              </a:defRPr>
            </a:pPr>
            <a:r>
              <a:rPr sz="900" b="1">
                <a:solidFill>
                  <a:srgbClr val="BCEFE1"/>
                </a:solidFill>
              </a:rPr>
              <a:t>30+ modules across safety, health, environment, compliance and governance</a:t>
            </a:r>
          </a:p>
        </p:txBody>
      </p:sp>
    </p:spTree>
    <p:extLst>
      <p:ext uri="{BB962C8B-B14F-4D97-AF65-F5344CB8AC3E}">
        <p14:creationId xmlns:p14="http://schemas.microsoft.com/office/powerpoint/2010/main" val="559867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b4d30de734038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DA147-37A6-4184-BE4D-15FC31BD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596B6E-CEC2-4A76-AB5D-5B36AB87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24C0D-CF9B-4D1B-8D91-359DA77E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Figures become decisions when the data is connected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5B8437-9DB4-4BDD-9BBA-C562D0E03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881EDE-14DC-4D5A-923D-2A1DDA01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Illustrative pilot dashboard model based on typical HSE management indicators. Real client figures appear automatically once the system is populated.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C200BC-8631-42D0-9459-17F4E93B0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441E0E-426C-4605-85CB-DD7290C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OPEN INCIDENTS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C1A877-C7E1-43B7-8F33-F9D0A223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C2626"/>
                </a:solidFill>
              </a:defRPr>
            </a:pPr>
            <a:r>
              <a:rPr sz="2850" b="1">
                <a:solidFill>
                  <a:srgbClr val="DC2626"/>
                </a:solidFill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65EA9-4B90-476C-9435-6FD32A12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7 reported this month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370DEB-376D-42E1-92E8-6054CFF1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4EF724-2389-4369-90D5-FC0AAFBE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838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ACTIONS DUE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91A17F-5F2A-423E-9707-C3D49D48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0861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9E0B"/>
                </a:solidFill>
              </a:defRPr>
            </a:pPr>
            <a:r>
              <a:rPr sz="2850" b="1">
                <a:solidFill>
                  <a:srgbClr val="F59E0B"/>
                </a:solidFill>
              </a:rPr>
              <a:t>21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A1399-22B5-4C34-B80D-624418D4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543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6 overdue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A1181-E70B-462C-A902-F8FCB7F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670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404329-7EAC-4AA3-BC7A-A6473ADC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38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TRAINING COMPLIANCE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3D6B49-B967-4E46-82DD-63EB5DB1D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861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D9E75"/>
                </a:solidFill>
              </a:defRPr>
            </a:pPr>
            <a:r>
              <a:rPr sz="2850" b="1">
                <a:solidFill>
                  <a:srgbClr val="1D9E75"/>
                </a:solidFill>
              </a:rPr>
              <a:t>84%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B1618-3DEB-43DA-8DA8-B22BD822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workforce certified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B3C9A-7176-4ED7-B92A-561302D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26670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D9A1E4-1D0A-4959-8CC5-14AD2D6E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838450"/>
            <a:ext cx="1752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LEGAL COMPLIANCE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BC5A63-C6D5-4041-93CC-3AC37321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86100"/>
            <a:ext cx="1752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85FA5"/>
                </a:solidFill>
              </a:defRPr>
            </a:pPr>
            <a:r>
              <a:rPr sz="2850" b="1">
                <a:solidFill>
                  <a:srgbClr val="185FA5"/>
                </a:solidFill>
              </a:rPr>
              <a:t>92%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36562C-7CCC-467A-A183-FDD42EC2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weighted register score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1ED1E4-10E2-49D8-B87E-B088226FD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4476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1000125" y="4714875"/>
          <a:ext xmlns:a="http://schemas.openxmlformats.org/drawingml/2006/main" cx="3905250" cy="90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820828956b47dd"/>
          </a:graphicData>
        </a:graphic>
      </p:graphicFrame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79A7E6-4ED2-4B72-A519-9E5677AA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429125"/>
            <a:ext cx="4476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graphicFrame>
        <p:nvGraphicFramePr>
          <p:cNvPr id="52" name="Chart"/>
          <p:cNvGraphicFramePr/>
          <p:nvPr/>
        </p:nvGraphicFramePr>
        <p:xfrm>
          <a:off xmlns:a="http://schemas.openxmlformats.org/drawingml/2006/main" x="6000750" y="4714875"/>
          <a:ext xmlns:a="http://schemas.openxmlformats.org/drawingml/2006/main" cx="3905250" cy="904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57f6ad3da44645"/>
          </a:graphicData>
        </a:graphic>
      </p:graphicFrame>
    </p:spTree>
    <p:extLst>
      <p:ext uri="{BB962C8B-B14F-4D97-AF65-F5344CB8AC3E}">
        <p14:creationId xmlns:p14="http://schemas.microsoft.com/office/powerpoint/2010/main" val="1568906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b80ec576b480f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2602A-C5AB-4366-AFDC-11F8FF1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74A07-5B29-4B50-BBF3-A5F25054A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D7C9"/>
                </a:solidFill>
              </a:defRPr>
            </a:pPr>
            <a:r>
              <a:rPr sz="825" b="1">
                <a:solidFill>
                  <a:srgbClr val="9DD7C9"/>
                </a:solidFill>
              </a:rPr>
              <a:t>FIELD OPERATIONS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D967D8-6B87-4C21-B11F-3A8B653C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Evidence starts at the point of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2E66C1-1FDE-42F8-A765-180814800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8C"/>
          </a:solidFill>
          <a:ln xmlns:a="http://schemas.openxmlformats.org/drawingml/2006/main" w="0">
            <a:solidFill>
              <a:srgbClr val="00C4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97DBFD-836F-4603-9226-2FE99DED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53C3C-6211-4F85-8337-58EF033E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ED853-AFBB-4D19-97A5-F0503156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Mobile field reporting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C582C-F949-4705-B36C-5EE8A540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2800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Workers and contractors can report incidents and observations from site, including photos and direct evidence.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FC6D41-83EB-4673-9FAA-C45CE246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907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E79856-199C-49AC-AADB-069CEC56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C66AA-11FE-421F-A554-1877A377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23622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Manager control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15683B-91E7-4841-B7C1-E95CA5A8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838450"/>
            <a:ext cx="2800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HSE managers classify severity, investigate, assign actions and decide what requires escalation.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48D3D-FE45-4B41-819C-20752173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3143250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73B930-9FD0-4A14-9CE9-3F84CD238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AE8961-892A-445D-8F3F-373DB32D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622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Evidence remains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316684-8508-4DEC-B61B-42877F15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838450"/>
            <a:ext cx="28003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Photos and supporting documents stay linked to the record so the story is traceable later.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BB980-3460-4823-AAE2-C9F1E647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Designed for field speed without losing management discipline.</a:t>
            </a:r>
          </a:p>
        </p:txBody>
      </p:sp>
    </p:spTree>
    <p:extLst>
      <p:ext uri="{BB962C8B-B14F-4D97-AF65-F5344CB8AC3E}">
        <p14:creationId xmlns:p14="http://schemas.microsoft.com/office/powerpoint/2010/main" val="15664988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051b276bf4e5c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C13E3-8603-4537-95D9-1113DA0F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009AD2-5045-4B6E-AB98-2BE76D828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CONTROL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DCE3B-A7FF-4647-8233-4F06F259B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The Master Action Plan turns findings into ownership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089116-27CA-49F8-BD31-1D11FA41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C3102-6DC5-4AD9-BD6D-DF217220D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34155"/>
                </a:solidFill>
              </a:defRPr>
            </a:pPr>
            <a:r>
              <a:rPr sz="1650" b="0">
                <a:solidFill>
                  <a:srgbClr val="334155"/>
                </a:solidFill>
              </a:rPr>
              <a:t>Every source of risk can feed a single action register: incidents, BBS, audits, inspections, legal gaps, PTW, chemicals, training and management reviews.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8B7E6D-4597-40C3-9872-4ACC57F8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EE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F5794-AAC5-42A5-9387-C6B638F1B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Incident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85EC61-1FA8-4AD8-8073-F0A5E5A92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1F5EE"/>
          </a:solidFill>
          <a:ln xmlns:a="http://schemas.openxmlformats.org/drawingml/2006/main" w="9525">
            <a:solidFill>
              <a:srgbClr val="E1F5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A2DFA-A5D0-4080-ADF7-1E44B43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BBS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3FDB9-BDD7-48AA-B203-9F3ED6D6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93CD9-B97B-4223-9B3E-8F7BD122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1B474E-E609-491A-A880-DE64771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F5F3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9A35C4-A201-48FB-993B-61C550CE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Risk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46353-924D-4A80-997D-799C843F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EF3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76C149-D565-4EA2-BCAF-EADF2FC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PTW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D870D-9C55-4393-9931-951F51BF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EDE9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6F324F-56D5-4BB4-9E0E-9E25DA7F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Legal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63560F-6AD4-4E90-9C01-4242988A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8FF"/>
          </a:solidFill>
          <a:ln xmlns:a="http://schemas.openxmlformats.org/drawingml/2006/main" w="9525">
            <a:solidFill>
              <a:srgbClr val="F3E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6E1E07-87FF-4AC1-A342-0A0E9D86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Chemical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EF30D-5684-4A17-884B-ECD433E9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857500"/>
            <a:ext cx="11239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DCFCE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4B5EBA-2F9E-4812-9306-F1464426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933700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F172A"/>
                </a:solidFill>
              </a:defRPr>
            </a:pPr>
            <a:r>
              <a:rPr sz="900" b="1">
                <a:solidFill>
                  <a:srgbClr val="0F172A"/>
                </a:solidFill>
              </a:rPr>
              <a:t>Training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59D01D-AAB2-443D-B85B-6BE6A48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90950"/>
            <a:ext cx="7905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71827"/>
          </a:solidFill>
          <a:ln xmlns:a="http://schemas.openxmlformats.org/drawingml/2006/main" w="9525">
            <a:solidFill>
              <a:srgbClr val="07182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09F3DC-D1C0-4B59-AF63-3B445BCE5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1624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Owner • Due date • Priority • Source • Evidence • Verification • Closure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8A87-98D6-43C2-934E-1827E7E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F172A"/>
                </a:solidFill>
              </a:defRPr>
            </a:pPr>
            <a:r>
              <a:rPr sz="2175" b="1">
                <a:solidFill>
                  <a:srgbClr val="0F172A"/>
                </a:solidFill>
              </a:rPr>
              <a:t>This is the operational heart of AURIS360.</a:t>
            </a:r>
          </a:p>
        </p:txBody>
      </p:sp>
    </p:spTree>
    <p:extLst>
      <p:ext uri="{BB962C8B-B14F-4D97-AF65-F5344CB8AC3E}">
        <p14:creationId xmlns:p14="http://schemas.microsoft.com/office/powerpoint/2010/main" val="1002350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b0fba037f4ee2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D0B2A4-1FC1-44EB-9DA6-3B5E16D0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D4C3BD-CE73-47F8-8F1B-75F8DECC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ASSURANCE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3FAAC7-94F7-41FF-B150-FB7062D8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Governance is built in, not added afterwards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CF844-3108-409B-B50A-86EECB487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EFAFE-7F89-4B60-AA27-31D9C7A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32385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693A18-FABD-4EB4-BE68-8F677F9E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4D14CB-CF3A-43E0-AB10-9AFA002B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50507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Approval Center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A1801-3379-4344-B8D6-A091DB82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81325"/>
            <a:ext cx="2895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Controlled records can move through approval levels before becoming final.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43359-FD39-4226-AC4B-91193A2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32385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98E022-3145-4149-80B4-E7F8484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B8A3F2-9224-49A6-8D8A-75DDF3E8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50507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86D05-E0B9-426F-ABC5-6E62BB4E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81325"/>
            <a:ext cx="2895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Create, update and delete actions are traceable by user, role, module and record reference.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303F1-5C15-44D8-8D11-B94C185F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333625"/>
            <a:ext cx="3238500" cy="1762125"/>
          </a:xfrm>
          <a:prstGeom xmlns:a="http://schemas.openxmlformats.org/drawingml/2006/main" prst="roundRect">
            <a:avLst>
              <a:gd name="adj" fmla="val 8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7E1F74-EC74-4D45-BCA5-6875A477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505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835EFE-7476-4344-93AB-70EFB2C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505075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Notification Rules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75F02-1B65-4F83-8EF2-00C139FA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2981325"/>
            <a:ext cx="28956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Recipients can be configured by event type, workflow stage and responsibility.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AC718-FA3F-42DF-A3E7-9069071D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9239250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5F4A2-59FB-428A-95A4-249346FA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292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65F46"/>
                </a:solidFill>
              </a:defRPr>
            </a:pPr>
            <a:r>
              <a:rPr sz="2025" b="1">
                <a:solidFill>
                  <a:srgbClr val="065F46"/>
                </a:solidFill>
              </a:rPr>
              <a:t>This is what helps clients answer the auditor’s question: “show me the proof.”</a:t>
            </a:r>
          </a:p>
        </p:txBody>
      </p:sp>
    </p:spTree>
    <p:extLst>
      <p:ext uri="{BB962C8B-B14F-4D97-AF65-F5344CB8AC3E}">
        <p14:creationId xmlns:p14="http://schemas.microsoft.com/office/powerpoint/2010/main" val="4061793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e8ade479f44ae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0275CF-AF71-456F-B153-D8868648F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4614F-11EA-434B-ACAF-F3DF4058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D7C9"/>
                </a:solidFill>
              </a:defRPr>
            </a:pPr>
            <a:r>
              <a:rPr sz="825" b="1">
                <a:solidFill>
                  <a:srgbClr val="9DD7C9"/>
                </a:solidFill>
              </a:rPr>
              <a:t>COMPLIANCE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753BD0-0E2D-4F7B-A058-3D3D460EF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Legal, chemical and occupational health data become intelligence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5C7F46-0596-4ACD-89FC-CC1D34D4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8C"/>
          </a:solidFill>
          <a:ln xmlns:a="http://schemas.openxmlformats.org/drawingml/2006/main" w="0">
            <a:solidFill>
              <a:srgbClr val="00C48C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857250" y="2333625"/>
          <a:ext xmlns:a="http://schemas.openxmlformats.org/drawingml/2006/main" cx="4476750" cy="2476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14f86faa2ed4ea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ED747-8B94-447A-AF5B-899A9E5B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90750"/>
            <a:ext cx="4476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79193-46C7-44B5-B0F4-EF0A9CC5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4101-3EFD-4679-86DE-F0D4F38B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6220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Legal register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B66BA9-D65B-4843-8566-DCC027655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3845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Import legislation, break requirements into sections, score compliance and track gaps.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5DE35C-7224-4F83-A11C-9CA800DD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4476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F5A0C-8D3C-4FEB-981B-788ED26A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48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B4A0B7-F894-4176-B3DE-23D1E1AD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48075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SDS and exposure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4CA6BA-4380-4EC6-9A3E-626748DE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24325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Extract chemical data, add persons exposed, frequency and duration, then calculate risk.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6F3A31-27EA-4B70-89BF-6B7915DC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4476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8A01A-3AE3-4C62-820E-21E41D86C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933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7F7FF-5A20-4E2E-8196-8566C7E9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9339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Health surveillance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B8373-C25F-428B-8258-682072C9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10200"/>
            <a:ext cx="413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Noise, exposure, occupational health, PPE and training records strengthen the compliance story.</a:t>
            </a:r>
          </a:p>
        </p:txBody>
      </p:sp>
    </p:spTree>
    <p:extLst>
      <p:ext uri="{BB962C8B-B14F-4D97-AF65-F5344CB8AC3E}">
        <p14:creationId xmlns:p14="http://schemas.microsoft.com/office/powerpoint/2010/main" val="172667636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a5fa2b76f405e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EF0EB-3EFE-4D8E-9C4D-8986F277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79118-6B9B-43BF-8AB9-C9A0BD33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F91289-D727-4CA6-A8EA-BA902519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AURIS AI makes the platform feel alive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3F627-12D9-43AC-A0A1-0AE93C9C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EA498-C25B-488D-B89C-32037B2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34155"/>
                </a:solidFill>
              </a:defRPr>
            </a:pPr>
            <a:r>
              <a:rPr sz="1725" b="0">
                <a:solidFill>
                  <a:srgbClr val="334155"/>
                </a:solidFill>
              </a:rPr>
              <a:t>AI is not a gimmick. It helps the HSE team turn live records into better decisions, draft documents faster and spot patterns earlier.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734C7B-2B54-49AF-BEEC-4329871F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143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D7A9A-EE50-4A33-B9E7-A363669B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64216-A007-4628-847A-3277C452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3147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Ask AURIS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19E8-F2E7-41BC-815B-A9A34AB3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800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Ask questions about incident trends, overdue actions, training, legal gaps and KPI performance.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140BD4-80A9-43C4-B843-35628EC3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FEC30E-9DE0-4E13-BC19-EF14C175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314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A5616-04DF-47F5-8B90-316C92E9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3147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Generate safety content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2C8C3D-3A63-4990-89FA-F1384690E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90950"/>
            <a:ext cx="2800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Draft RAMS, toolbox talks, SOPs, compliance checks and document summaries.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A877D-776F-406E-851A-F134B370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43250"/>
            <a:ext cx="314325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2DEC6-5F76-4CE2-950E-A18BCE43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14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A7B5B-F5FA-4CC5-BB7C-7BBFCA9C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147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Predict risk patterns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087EB-5D92-4339-942D-9425E97B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90950"/>
            <a:ext cx="2800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Highlight weak signals from incidents, near misses, observations and environmental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E63643-5A92-40C8-8F12-64DA4773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334000"/>
            <a:ext cx="5715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9525">
            <a:solidFill>
              <a:srgbClr val="F5F3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34540E-65F7-4973-A824-D21BB3CA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4102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C3AED"/>
                </a:solidFill>
              </a:defRPr>
            </a:pPr>
            <a:r>
              <a:rPr sz="900" b="1">
                <a:solidFill>
                  <a:srgbClr val="7C3AED"/>
                </a:solidFill>
              </a:rPr>
              <a:t>AI access can be restricted to SEPHS admin, company admin and HSE roles</a:t>
            </a:r>
          </a:p>
        </p:txBody>
      </p:sp>
    </p:spTree>
    <p:extLst>
      <p:ext uri="{BB962C8B-B14F-4D97-AF65-F5344CB8AC3E}">
        <p14:creationId xmlns:p14="http://schemas.microsoft.com/office/powerpoint/2010/main" val="9081445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3492b9c094578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116045-BB00-4BA2-851F-49C34685B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9C35E3-EA8A-4EFF-847A-D1EC4E290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D7C9"/>
                </a:solidFill>
              </a:defRPr>
            </a:pPr>
            <a:r>
              <a:rPr sz="825" b="1">
                <a:solidFill>
                  <a:srgbClr val="9DD7C9"/>
                </a:solidFill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563F7F-2524-4CC2-9B46-E3779281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What is coming turns AURIS360 into a market platform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21036-2EB2-493D-BA4D-A0F9751D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8C"/>
          </a:solidFill>
          <a:ln xmlns:a="http://schemas.openxmlformats.org/drawingml/2006/main" w="0">
            <a:solidFill>
              <a:srgbClr val="00C4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654EB-A224-4C27-8B19-EF78E0D9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907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19CC3-0514-4517-BBB2-FC504D20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3FDED9-7B01-4A2B-AB5E-A07CEA95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2362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Specialist 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D2DC-25F8-407D-9EFF-F3F2C0E3C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384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Manual handling, fire, chemical, machinery, fleet and ATEX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39A11F-1D54-43C3-89AF-1687E24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2225-9551-4FE3-8C8F-4E6FF751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86EDD-7B69-4C7B-8DFD-77BD4C7A1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2362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Fleet and assets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B5FC9-7744-40FC-A9E1-2F92A576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Vehicle checks, fuel, incidents, RCD testing and equipment links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F23A6-6E3C-4BCB-B10F-94598BF4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907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AB86C-1CF7-429A-B072-7067758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362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81EF-99CF-4D9B-9739-92C602B0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622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Smart notifications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64E29C-5621-40D8-B4F7-31D3CAD8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8384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Email now, WhatsApp/SMS and mobile push 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68455-D4D1-4D74-B45A-F5DE42C0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48DBA-7EC7-479A-932F-12925C2E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76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66F1BA-ECCB-4278-8A75-C94AEB37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40767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Client portals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7C5E32-1FDF-4B6F-A8AE-694F76D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552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Branding, client spaces and future company.auris360.com domains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D36FFE-F705-49B5-8E00-86BA6F66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C1F7B2-9104-4260-B93B-DD10EBA6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76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EA5E9"/>
          </a:solidFill>
          <a:ln xmlns:a="http://schemas.openxmlformats.org/drawingml/2006/main" w="9525">
            <a:solidFill>
              <a:srgbClr val="0EA5E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E1CE6-3595-4E6F-A049-5B099054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6825" y="40767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Integrations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738B1B-6412-4663-A5CD-D4B912F0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552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HR, ERP, Power BI, IoT, Google/Microsoft and API connections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991310-D179-477F-AE5D-35C29799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32385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1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83B08F-33F8-4DC5-B0F2-302449C8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076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1B8C1C3-A594-401A-B6EC-547BBA0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76700"/>
            <a:ext cx="2400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Predictive HSE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09BB5C-0A1C-4752-88F6-5D459EAA5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4552950"/>
            <a:ext cx="2895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C7D2DE"/>
                </a:solidFill>
              </a:defRPr>
            </a:pPr>
            <a:r>
              <a:rPr sz="1013" b="0">
                <a:solidFill>
                  <a:srgbClr val="C7D2DE"/>
                </a:solidFill>
              </a:rPr>
              <a:t>Risk heatmaps, executive forecasts and leading indicator intelligence</a:t>
            </a:r>
          </a:p>
        </p:txBody>
      </p:sp>
    </p:spTree>
    <p:extLst>
      <p:ext uri="{BB962C8B-B14F-4D97-AF65-F5344CB8AC3E}">
        <p14:creationId xmlns:p14="http://schemas.microsoft.com/office/powerpoint/2010/main" val="134938060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a05bd45acd4087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62378-E773-4DA5-8FEB-C4E0FC2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9E75"/>
                </a:solidFill>
              </a:defRPr>
            </a:pPr>
            <a:r>
              <a:rPr sz="1350" b="1">
                <a:solidFill>
                  <a:srgbClr val="1D9E75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578DE-0C8F-469F-90E8-D15D83FB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CHOICE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2A2251-5800-4F0B-BFDE-BD8E6652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F172A"/>
                </a:solidFill>
              </a:defRPr>
            </a:pPr>
            <a:r>
              <a:rPr sz="2700" b="1">
                <a:solidFill>
                  <a:srgbClr val="0F172A"/>
                </a:solidFill>
              </a:rPr>
              <a:t>Why clients should choose AURIS360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6F669F-A4C9-408B-B51B-42932404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9E75"/>
          </a:solidFill>
          <a:ln xmlns:a="http://schemas.openxmlformats.org/drawingml/2006/main" w="0">
            <a:solidFill>
              <a:srgbClr val="1D9E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3D5A7-1D48-4A91-B872-00EB17D9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The strongest value is not one module. It is the way every module connects into governance, evidence and improvement.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mlns:a="http://schemas.openxmlformats.org/drawingml/2006/main" x="809625" y="2762250"/>
          <a:ext xmlns:a="http://schemas.openxmlformats.org/drawingml/2006/main" cx="40005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fb29c26d5d492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E8429-6FC8-4EFB-A83C-69BB2E0C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62250"/>
            <a:ext cx="5143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67F208-C8A0-4EE2-95F7-DCE2B0EF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933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D9E75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A83B13-0437-49B6-9F5F-17CB0376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337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Built around real HSE consulting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498D5-9775-4404-9251-13E0D60CB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409950"/>
            <a:ext cx="480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The workflows reflect practical site realities, not only generic software screens.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712E6-6A09-4395-A606-86CB2674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57625"/>
            <a:ext cx="5143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8C66DD-9A09-4440-97B7-6EC22F51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0290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85FA5"/>
          </a:solidFill>
          <a:ln xmlns:a="http://schemas.openxmlformats.org/drawingml/2006/main" w="9525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AB427-21D7-4E7F-87B1-E0D0CE0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29075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A full system, not scattered registers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003BB-4845-47AA-B7D8-D6C4F4BA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505325"/>
            <a:ext cx="480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Operational records, evidence, actions, approvals and audit trail connect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E78700-F92A-4090-9F57-4A528D32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53000"/>
            <a:ext cx="5143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DC8B5-83DC-401F-9481-423D3BA0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1244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7C3AED"/>
          </a:solidFill>
          <a:ln xmlns:a="http://schemas.openxmlformats.org/drawingml/2006/main" w="9525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C4AB3-DD71-4C45-8228-40CDCE78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12445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Designed to grow with the client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169A98-6C9D-4163-92F8-F670733D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5600700"/>
            <a:ext cx="4800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34155"/>
                </a:solidFill>
              </a:defRPr>
            </a:pPr>
            <a:r>
              <a:rPr sz="1013" b="0">
                <a:solidFill>
                  <a:srgbClr val="334155"/>
                </a:solidFill>
              </a:rPr>
              <a:t>Start with core modules, then expand into specialist risks, AI, integrations and branding.</a:t>
            </a:r>
          </a:p>
        </p:txBody>
      </p:sp>
    </p:spTree>
    <p:extLst>
      <p:ext uri="{BB962C8B-B14F-4D97-AF65-F5344CB8AC3E}">
        <p14:creationId xmlns:p14="http://schemas.microsoft.com/office/powerpoint/2010/main" val="10138961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6ca5813014eee"/>
          <a:stretch xmlns:a="http://schemas.openxmlformats.org/drawingml/2006/main"/>
        </p:blipFill>
        <p:spPr>
          <a:xfrm xmlns:a="http://schemas.openxmlformats.org/drawingml/2006/main">
            <a:off x="514350" y="3429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77EB2-B613-4823-B8C4-B003F242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09D79-8791-4855-AC79-0324B009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572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DD7C9"/>
                </a:solidFill>
              </a:defRPr>
            </a:pPr>
            <a:r>
              <a:rPr sz="825" b="1">
                <a:solidFill>
                  <a:srgbClr val="9DD7C9"/>
                </a:solidFill>
              </a:rPr>
              <a:t>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A7D35-75C8-4A5D-BD75-847C3977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00125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The right path is a powerful but controlled 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1F554-154B-4592-8EF5-09F108EA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200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8C"/>
          </a:solidFill>
          <a:ln xmlns:a="http://schemas.openxmlformats.org/drawingml/2006/main" w="0">
            <a:solidFill>
              <a:srgbClr val="00C4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EE566-89E9-4129-95C1-49DE9BE3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Start with the modules that prove value immediately, then expand once users trust the system.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0E6131-B20C-4CA9-90F2-9A25C54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52750"/>
            <a:ext cx="233362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19050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DC74FB-D031-4310-B44D-EA30C84A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D9E75"/>
                </a:solidFill>
              </a:defRPr>
            </a:pPr>
            <a:r>
              <a:rPr sz="1800" b="1">
                <a:solidFill>
                  <a:srgbClr val="1D9E75"/>
                </a:solidFill>
              </a:rPr>
              <a:t>Phase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30CDD0-32FA-4709-8C89-2133F20F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Dashboard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Incidents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BBS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KPIs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45F3E-1E97-4C38-9B35-0EA1A1CB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52750"/>
            <a:ext cx="233362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19050">
            <a:solidFill>
              <a:srgbClr val="185F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C9486-8C26-4235-9C4D-124BD703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5FA5"/>
                </a:solidFill>
              </a:defRPr>
            </a:pPr>
            <a:r>
              <a:rPr sz="1800" b="1">
                <a:solidFill>
                  <a:srgbClr val="185FA5"/>
                </a:solidFill>
              </a:rPr>
              <a:t>Phase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76535-AE5A-4C45-B6F1-B9B03AB9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Risk Assessment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PTW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Legal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Chemical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Audit Trail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779DF-7131-486F-9C55-32C5292C7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52750"/>
            <a:ext cx="233362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19050">
            <a:solidFill>
              <a:srgbClr val="7C3A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7B7026-F519-44CC-9FEE-98EDAE0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C3AED"/>
                </a:solidFill>
              </a:defRPr>
            </a:pPr>
            <a:r>
              <a:rPr sz="1800" b="1">
                <a:solidFill>
                  <a:srgbClr val="7C3AED"/>
                </a:solidFill>
              </a:rPr>
              <a:t>Phase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97D950-7663-45D6-BBDC-514FB839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7147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AI Insights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SOP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Documents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Training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Occupational 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F9C51-90F8-49B9-8491-F3CEE0D3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52750"/>
            <a:ext cx="2333625" cy="2190750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19050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466D90-8714-486F-B6D1-4F2D06381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9E0B"/>
                </a:solidFill>
              </a:defRPr>
            </a:pPr>
            <a:r>
              <a:rPr sz="1800" b="1">
                <a:solidFill>
                  <a:srgbClr val="F59E0B"/>
                </a:solidFill>
              </a:rPr>
              <a:t>Phase 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154C53-C506-4BF5-A84A-D267A502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171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Fleet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ATEX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RCD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Integrations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Client portals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C77740-1D71-442E-B44B-D833EB004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715000"/>
            <a:ext cx="3810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3548"/>
          </a:solidFill>
          <a:ln xmlns:a="http://schemas.openxmlformats.org/drawingml/2006/main" w="9525">
            <a:solidFill>
              <a:srgbClr val="12354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B4DFA0-C6C4-4873-8BB6-CDD2DA87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9120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CEFE1"/>
                </a:solidFill>
              </a:defRPr>
            </a:pPr>
            <a:r>
              <a:rPr sz="900" b="1">
                <a:solidFill>
                  <a:srgbClr val="BCEFE1"/>
                </a:solidFill>
              </a:rPr>
              <a:t>AURIS360 by SEPHS Consulting</a:t>
            </a:r>
          </a:p>
        </p:txBody>
      </p:sp>
    </p:spTree>
    <p:extLst>
      <p:ext uri="{BB962C8B-B14F-4D97-AF65-F5344CB8AC3E}">
        <p14:creationId xmlns:p14="http://schemas.microsoft.com/office/powerpoint/2010/main" val="12459822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33205d36c401b"/>
          <a:stretch xmlns:a="http://schemas.openxmlformats.org/drawingml/2006/main"/>
        </p:blipFill>
        <p:spPr>
          <a:xfrm xmlns:a="http://schemas.openxmlformats.org/drawingml/2006/main">
            <a:off x="666750" y="53340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540D0-7F36-4B00-8E65-C7A58E14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286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AURIS360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6392E-074B-430D-A7E0-E184FE5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762125"/>
            <a:ext cx="952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Visible risk. Controlled action. Proved compliance.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D9FCB-0E06-4C4C-A438-9DE1082B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6EA"/>
                </a:solidFill>
              </a:defRPr>
            </a:pPr>
            <a:r>
              <a:rPr sz="1875" b="0">
                <a:solidFill>
                  <a:srgbClr val="D6E6EA"/>
                </a:solidFill>
              </a:rPr>
              <a:t>AURIS360 is built to become the everyday HSE platform for organisations that want more than a register.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BDCC1-787F-4BAE-8DF4-13738903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29125"/>
            <a:ext cx="49530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103B4C"/>
          </a:solidFill>
          <a:ln xmlns:a="http://schemas.openxmlformats.org/drawingml/2006/main" w="9525">
            <a:solidFill>
              <a:srgbClr val="1D9E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3A4C8-99AA-4958-A99F-CF19F9E5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BCEFE1"/>
                </a:solidFill>
              </a:defRPr>
            </a:pPr>
            <a:r>
              <a:rPr sz="2325" b="1">
                <a:solidFill>
                  <a:srgbClr val="BCEFE1"/>
                </a:solidFill>
              </a:rPr>
              <a:t>Pilot the future of HSE management</a:t>
            </a:r>
          </a:p>
        </p:txBody>
      </p:sp>
    </p:spTree>
    <p:extLst>
      <p:ext uri="{BB962C8B-B14F-4D97-AF65-F5344CB8AC3E}">
        <p14:creationId xmlns:p14="http://schemas.microsoft.com/office/powerpoint/2010/main" val="2058786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2026-07-02T08:21:07.4030000Z</dcterms:created>
  <dcterms:modified xsi:type="dcterms:W3CDTF">2026-07-02T08:21:07.4030000Z</dcterms:modified>
</coreProperties>
</file>