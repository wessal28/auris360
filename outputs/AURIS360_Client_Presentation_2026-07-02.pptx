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e104e4c9f04746" /><Relationship Type="http://schemas.openxmlformats.org/officeDocument/2006/relationships/extended-properties" Target="/docProps/app.xml" Id="R62efb726d0d64bad" /><Relationship Type="http://schemas.openxmlformats.org/officeDocument/2006/relationships/officeDocument" Target="/ppt/presentation.xml" Id="R1e135130c5d149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a5ebcd1314172"/>
  </p:sldMasterIdLst>
  <p:notesMasterIdLst>
    <p:notesMasterId xmlns:r="http://schemas.openxmlformats.org/officeDocument/2006/relationships" r:id="R46e82738af054e09"/>
  </p:notesMasterIdLst>
  <p:sldIdLst>
    <p:sldId xmlns:r="http://schemas.openxmlformats.org/officeDocument/2006/relationships" id="256" r:id="Rf49dbd5517a3410e"/>
    <p:sldId xmlns:r="http://schemas.openxmlformats.org/officeDocument/2006/relationships" id="257" r:id="R24404fd05ea24d93"/>
    <p:sldId xmlns:r="http://schemas.openxmlformats.org/officeDocument/2006/relationships" id="258" r:id="R5bfcf5e810e8471a"/>
    <p:sldId xmlns:r="http://schemas.openxmlformats.org/officeDocument/2006/relationships" id="259" r:id="Rfda91a04718c42c5"/>
    <p:sldId xmlns:r="http://schemas.openxmlformats.org/officeDocument/2006/relationships" id="260" r:id="R9cd5a09422cf4cef"/>
    <p:sldId xmlns:r="http://schemas.openxmlformats.org/officeDocument/2006/relationships" id="261" r:id="R2f6b9559235f477a"/>
    <p:sldId xmlns:r="http://schemas.openxmlformats.org/officeDocument/2006/relationships" id="262" r:id="R63dcae02277547db"/>
    <p:sldId xmlns:r="http://schemas.openxmlformats.org/officeDocument/2006/relationships" id="263" r:id="R4d83580726bd404d"/>
    <p:sldId xmlns:r="http://schemas.openxmlformats.org/officeDocument/2006/relationships" id="264" r:id="R2348fea36ece4447"/>
    <p:sldId xmlns:r="http://schemas.openxmlformats.org/officeDocument/2006/relationships" id="265" r:id="Rd9d5f31f152143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57f0654f34b28" /><Relationship Type="http://schemas.openxmlformats.org/officeDocument/2006/relationships/slideMaster" Target="/ppt/slideMasters/slideMaster1.xml" Id="R837a5ebcd1314172" /><Relationship Type="http://schemas.openxmlformats.org/officeDocument/2006/relationships/notesMaster" Target="/ppt/notesMasters/notesMaster1.xml" Id="R46e82738af054e09" /><Relationship Type="http://schemas.openxmlformats.org/officeDocument/2006/relationships/presProps" Target="/ppt/presProps.xml" Id="R7baa7ef9c3ea46ad" /><Relationship Type="http://schemas.openxmlformats.org/officeDocument/2006/relationships/tableStyles" Target="/ppt/tableStyles.xml" Id="R384dbdd9a1dc4923" /><Relationship Type="http://schemas.openxmlformats.org/officeDocument/2006/relationships/slide" Target="/ppt/slides/slide1.xml" Id="Rf49dbd5517a3410e" /><Relationship Type="http://schemas.openxmlformats.org/officeDocument/2006/relationships/slide" Target="/ppt/slides/slide2.xml" Id="R24404fd05ea24d93" /><Relationship Type="http://schemas.openxmlformats.org/officeDocument/2006/relationships/slide" Target="/ppt/slides/slide3.xml" Id="R5bfcf5e810e8471a" /><Relationship Type="http://schemas.openxmlformats.org/officeDocument/2006/relationships/slide" Target="/ppt/slides/slide4.xml" Id="Rfda91a04718c42c5" /><Relationship Type="http://schemas.openxmlformats.org/officeDocument/2006/relationships/slide" Target="/ppt/slides/slide5.xml" Id="R9cd5a09422cf4cef" /><Relationship Type="http://schemas.openxmlformats.org/officeDocument/2006/relationships/slide" Target="/ppt/slides/slide6.xml" Id="R2f6b9559235f477a" /><Relationship Type="http://schemas.openxmlformats.org/officeDocument/2006/relationships/slide" Target="/ppt/slides/slide7.xml" Id="R63dcae02277547db" /><Relationship Type="http://schemas.openxmlformats.org/officeDocument/2006/relationships/slide" Target="/ppt/slides/slide8.xml" Id="R4d83580726bd404d" /><Relationship Type="http://schemas.openxmlformats.org/officeDocument/2006/relationships/slide" Target="/ppt/slides/slide9.xml" Id="R2348fea36ece4447" /><Relationship Type="http://schemas.openxmlformats.org/officeDocument/2006/relationships/slide" Target="/ppt/slides/slide10.xml" Id="Rd9d5f31f1521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975cf9e044a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e23ef06fa54c7d" /><Relationship Type="http://schemas.openxmlformats.org/officeDocument/2006/relationships/notesMaster" Target="/ppt/notesMasters/notesMaster1.xml" Id="R0bdca77b63094d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ae9a67fe6048aa" /><Relationship Type="http://schemas.openxmlformats.org/officeDocument/2006/relationships/notesMaster" Target="/ppt/notesMasters/notesMaster1.xml" Id="Re1cfcc19d5e64c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0e17fdce34646" /><Relationship Type="http://schemas.openxmlformats.org/officeDocument/2006/relationships/notesMaster" Target="/ppt/notesMasters/notesMaster1.xml" Id="Rdb302bca98174e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47d6ab261a4682" /><Relationship Type="http://schemas.openxmlformats.org/officeDocument/2006/relationships/notesMaster" Target="/ppt/notesMasters/notesMaster1.xml" Id="R39ce8573182243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be0e628dc041d7" /><Relationship Type="http://schemas.openxmlformats.org/officeDocument/2006/relationships/notesMaster" Target="/ppt/notesMasters/notesMaster1.xml" Id="R6bb29731054c41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f46bcc3464e8a" /><Relationship Type="http://schemas.openxmlformats.org/officeDocument/2006/relationships/notesMaster" Target="/ppt/notesMasters/notesMaster1.xml" Id="R28fa2b05d0f64f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5dccf91bc34a87" /><Relationship Type="http://schemas.openxmlformats.org/officeDocument/2006/relationships/notesMaster" Target="/ppt/notesMasters/notesMaster1.xml" Id="Rf275f388fe784a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096d80e45e42fa" /><Relationship Type="http://schemas.openxmlformats.org/officeDocument/2006/relationships/notesMaster" Target="/ppt/notesMasters/notesMaster1.xml" Id="Rc9493f47b97f47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fdc41e05254a96" /><Relationship Type="http://schemas.openxmlformats.org/officeDocument/2006/relationships/notesMaster" Target="/ppt/notesMasters/notesMaster1.xml" Id="Rcf14f277aa954a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08abed360d4436" /><Relationship Type="http://schemas.openxmlformats.org/officeDocument/2006/relationships/notesMaster" Target="/ppt/notesMasters/notesMaster1.xml" Id="R6fbbaaa27b5348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aa1ae962045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043bb999274095" /><Relationship Type="http://schemas.openxmlformats.org/officeDocument/2006/relationships/slideLayout" Target="/ppt/slideLayouts/slideLayout1.xml" Id="R82ca5bd4e12840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a5bd4e12840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4da8bfe364f33" /><Relationship Type="http://schemas.openxmlformats.org/officeDocument/2006/relationships/image" Target="/ppt/media/image.png" Id="R30e32496aab84eda" /><Relationship Type="http://schemas.openxmlformats.org/officeDocument/2006/relationships/notesSlide" Target="/ppt/notesSlides/notesSlide1.xml" Id="R28b19e185f134f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b32a319ba411a" /><Relationship Type="http://schemas.openxmlformats.org/officeDocument/2006/relationships/image" Target="/ppt/media/image2.png" Id="R21c7d025a2fc49b4" /><Relationship Type="http://schemas.openxmlformats.org/officeDocument/2006/relationships/notesSlide" Target="/ppt/notesSlides/notesSlide2.xml" Id="Rc16d73ef5bf147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fbfc50dd64db5" /><Relationship Type="http://schemas.openxmlformats.org/officeDocument/2006/relationships/image" Target="/ppt/media/image3.png" Id="R4bfdde524bcb452f" /><Relationship Type="http://schemas.openxmlformats.org/officeDocument/2006/relationships/notesSlide" Target="/ppt/notesSlides/notesSlide3.xml" Id="Re9674b513b8743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86682a7fc4390" /><Relationship Type="http://schemas.openxmlformats.org/officeDocument/2006/relationships/image" Target="/ppt/media/image4.png" Id="R7cb74312fd7840f9" /><Relationship Type="http://schemas.openxmlformats.org/officeDocument/2006/relationships/notesSlide" Target="/ppt/notesSlides/notesSlide4.xml" Id="Ra3e09913352145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fecafc98e49cd" /><Relationship Type="http://schemas.openxmlformats.org/officeDocument/2006/relationships/image" Target="/ppt/media/image5.png" Id="Rc422f15377a74c98" /><Relationship Type="http://schemas.openxmlformats.org/officeDocument/2006/relationships/notesSlide" Target="/ppt/notesSlides/notesSlide5.xml" Id="R0294709c671040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e771b270b4243" /><Relationship Type="http://schemas.openxmlformats.org/officeDocument/2006/relationships/image" Target="/ppt/media/image6.png" Id="Ra382a21f20f9443e" /><Relationship Type="http://schemas.openxmlformats.org/officeDocument/2006/relationships/notesSlide" Target="/ppt/notesSlides/notesSlide6.xml" Id="R9aaf3ab484de4a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853acc9ea4435" /><Relationship Type="http://schemas.openxmlformats.org/officeDocument/2006/relationships/image" Target="/ppt/media/image7.png" Id="R4ca3d638758a4704" /><Relationship Type="http://schemas.openxmlformats.org/officeDocument/2006/relationships/notesSlide" Target="/ppt/notesSlides/notesSlide7.xml" Id="Rc14dd3d69cfb4a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c72ad299c49b2" /><Relationship Type="http://schemas.openxmlformats.org/officeDocument/2006/relationships/image" Target="/ppt/media/image8.png" Id="R3e568b49535b4101" /><Relationship Type="http://schemas.openxmlformats.org/officeDocument/2006/relationships/notesSlide" Target="/ppt/notesSlides/notesSlide8.xml" Id="Racf62bda59ad4c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89d3038ad4dae" /><Relationship Type="http://schemas.openxmlformats.org/officeDocument/2006/relationships/image" Target="/ppt/media/image9.png" Id="R53d3c308480c4b7d" /><Relationship Type="http://schemas.openxmlformats.org/officeDocument/2006/relationships/notesSlide" Target="/ppt/notesSlides/notesSlide9.xml" Id="Ra5be6d66eb6e40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4fe2501554202" /><Relationship Type="http://schemas.openxmlformats.org/officeDocument/2006/relationships/image" Target="/ppt/media/image10.png" Id="R27035a899e6f4538" /><Relationship Type="http://schemas.openxmlformats.org/officeDocument/2006/relationships/notesSlide" Target="/ppt/notesSlides/notesSlide10.xml" Id="Ra57b2654e98c4b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32496aab84eda"/>
          <a:stretch xmlns:a="http://schemas.openxmlformats.org/drawingml/2006/main"/>
        </p:blipFill>
        <p:spPr>
          <a:xfrm xmlns:a="http://schemas.openxmlformats.org/drawingml/2006/main">
            <a:off x="971550" y="552450"/>
            <a:ext cx="1524000" cy="762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67987-E271-4C23-B784-04B0007A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AURIS360 turns HSE work into controlled, visible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FC465-A884-46E5-9E9F-13AC41BD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 practical HSE management platform built for reporting, follow-up, compliance, and leadership oversight.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7B5BE-56C9-4803-A6C1-93E1C9B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A7B80-36C0-4D1D-9D63-6D97492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F6E56"/>
          </a:solidFill>
          <a:ln xmlns:a="http://schemas.openxmlformats.org/drawingml/2006/main" w="9525">
            <a:solidFill>
              <a:srgbClr val="0F6E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30A22-78D2-4BE4-B094-C1903FBA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One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A6183-3AEA-4EEE-A5D7-860E90AB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Incidents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BBS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Risk assessments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Permits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Legal compliance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Chemicals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Actions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B27A2-8374-45A5-BBF0-898B87F2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5EE"/>
          </a:solidFill>
          <a:ln xmlns:a="http://schemas.openxmlformats.org/drawingml/2006/main" w="9525">
            <a:solidFill>
              <a:srgbClr val="E1F5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92171-6512-4DFE-A1AE-2347016D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6E56"/>
                </a:solidFill>
              </a:defRPr>
            </a:pPr>
            <a:r>
              <a:rPr sz="975" b="1">
                <a:solidFill>
                  <a:srgbClr val="0F6E56"/>
                </a:solidFill>
              </a:rPr>
              <a:t>Prepared for pilot-client discussions</a:t>
            </a:r>
          </a:p>
        </p:txBody>
      </p:sp>
    </p:spTree>
    <p:extLst>
      <p:ext uri="{BB962C8B-B14F-4D97-AF65-F5344CB8AC3E}">
        <p14:creationId xmlns:p14="http://schemas.microsoft.com/office/powerpoint/2010/main" val="1989151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7d025a2fc49b4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E423D-FA73-469C-B990-164FF92D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64542-6F29-488A-BD51-B88ACC7A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WHY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A3FC6-6E20-43DD-83D8-F07C92E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Most HSE systems fail when follow-up becomes invisible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74686-3885-43B7-8F2F-670D555D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E8AB5-940C-4E41-B5A5-C4CEB77E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Safety teams often work across spreadsheets, paper forms, WhatsApp messages, email threads and disconnected registers. The result is not a lack of effort. It is a lack of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E3E8-8FF5-47E0-A723-23223C45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4F139-0697-44F7-BCAE-583E26D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398CF-BCCE-42B2-8239-30878BD1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Reports are captured, but actions 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EAEDA-C036-40A8-ABCD-80D3E03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990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Incidents, BBS observations and inspections create follow-up work, but ownership and closure are hard to see.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5BA57-4C3A-46D7-BC24-746A8B3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66D29-4121-404F-A944-081C0C5F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9F27"/>
          </a:solidFill>
          <a:ln xmlns:a="http://schemas.openxmlformats.org/drawingml/2006/main" w="9525">
            <a:solidFill>
              <a:srgbClr val="EF9F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FA8DE-B37F-4B54-BD56-47D0B0B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3147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Compliance is difficult to 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AA8BD-9544-4651-BF4E-72DF1EAA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33800"/>
            <a:ext cx="2990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Legal requirements, permits, certificates and evidence are scattered when clients or authorities ask for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16185-8F11-47DA-8FB3-B2EE109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5203B-1075-46B0-8EE1-B21B45E5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53D74-8C74-4CB2-8E0B-600FA64F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Leaders see lagging indicators too 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9C474-C3C2-4158-BF5C-3A718D1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990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Management needs a clear view of risk, overdue actions and weak controls before events become serious.</a:t>
            </a:r>
          </a:p>
        </p:txBody>
      </p:sp>
    </p:spTree>
    <p:extLst>
      <p:ext uri="{BB962C8B-B14F-4D97-AF65-F5344CB8AC3E}">
        <p14:creationId xmlns:p14="http://schemas.microsoft.com/office/powerpoint/2010/main" val="1450861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dde524bcb452f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A9CC4-0F68-43CC-ABBF-4E6452FD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8A886-4432-42D5-8174-40879C3B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0E957-3570-4F26-ADBC-2F956D9D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AURIS360 connects field reporting to management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974E7-B8F3-4163-B472-0ED20195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F912A-3091-4491-A41C-D702735E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F5EE"/>
          </a:solidFill>
          <a:ln xmlns:a="http://schemas.openxmlformats.org/drawingml/2006/main" w="9525">
            <a:solidFill>
              <a:srgbClr val="B7E5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38752-E2C3-4817-BB6F-AA2156D9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6E56"/>
                </a:solidFill>
              </a:defRPr>
            </a:pPr>
            <a:r>
              <a:rPr sz="1950" b="1">
                <a:solidFill>
                  <a:srgbClr val="0F6E56"/>
                </a:solidFill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5A303-DE74-45B3-84A0-8BA93FA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Incidents, BBS, inspections, permits, evidence and observations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43BE7-1662-404D-A3D0-C5D264AB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1846C-94EC-4800-9959-57CCC71B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5FA5"/>
                </a:solidFill>
              </a:defRPr>
            </a:pPr>
            <a:r>
              <a:rPr sz="1950" b="1">
                <a:solidFill>
                  <a:srgbClr val="185FA5"/>
                </a:solidFill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DF300-6F10-4052-B540-D326A935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Assign actions, approve records, track due dates and verify closure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15D86-6627-45FB-8EA2-0A8A6DF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48789-3974-44A7-945F-89BA6C2B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A3412"/>
                </a:solidFill>
              </a:defRPr>
            </a:pPr>
            <a:r>
              <a:rPr sz="1950" b="1">
                <a:solidFill>
                  <a:srgbClr val="9A3412"/>
                </a:solidFill>
              </a:rPr>
              <a:t>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89415-9AF3-4F2A-B803-FF5191E7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Maintain legal registers, documents, audit trails and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D0649-EC36-4AFF-B225-E6A69FE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35099-9E06-4A23-84E5-F5ED5B6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19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21B6"/>
                </a:solidFill>
              </a:defRPr>
            </a:pPr>
            <a:r>
              <a:rPr sz="1950" b="1">
                <a:solidFill>
                  <a:srgbClr val="5B21B6"/>
                </a:solidFill>
              </a:rPr>
              <a:t>Improve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36000-C018-42C4-895E-A355892C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289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Use AI insights and trends to target prevention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D9D50-713C-46A8-BA37-DBF8546D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AURIS360 is designed as the operational layer between workers, supervisors, HSE managers, company admins and executive leadership.</a:t>
            </a:r>
          </a:p>
        </p:txBody>
      </p:sp>
    </p:spTree>
    <p:extLst>
      <p:ext uri="{BB962C8B-B14F-4D97-AF65-F5344CB8AC3E}">
        <p14:creationId xmlns:p14="http://schemas.microsoft.com/office/powerpoint/2010/main" val="231076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74312fd7840f9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1C011-435F-4A8E-B2CD-CA6716E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1E16A-9F2F-4982-97F7-7D98CA0A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AVAILABLE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DD787-52A5-41C8-8300-105B3C9F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current platform already covers the main HSE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713D8-71D3-4957-90D8-E509383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3F9A6-14F6-4289-9589-9135F48D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60E58-D04F-4B4D-81E3-9B37515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F27ED-7EAE-46E7-9917-6AE8CF80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193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DF72B-3C82-48FF-8559-4845C5AC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Executive view, KPI cards, readiness panel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F4982-C0BB-4275-81EB-6F2DBA63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BD29D-C9C2-49D4-B479-37361C2F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19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D39A1-05AA-4E9E-96FA-09E09B3F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193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Incidents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8D94E-6128-4CBF-BFAF-E62E84E0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384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Report, evidence, investigation, corrective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A3FE8-010E-4D01-98FC-9D8FA711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F87E4-856D-41FF-8A63-A2DF4A9E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19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9F27"/>
          </a:solidFill>
          <a:ln xmlns:a="http://schemas.openxmlformats.org/drawingml/2006/main" w="9525">
            <a:solidFill>
              <a:srgbClr val="EF9F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1BEBD-0AFD-4CD9-9974-549A212D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193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20C40-A5FE-4E03-8D35-209EA1A3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384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Positive behaviour, unsafe acts, trend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55B53-2AC8-4EBE-AFB1-844ADA78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645A5-7677-4267-8012-B37B021F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784AD-9751-4E54-89BF-89890D80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575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Master Action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C6D6A-D9C3-4588-ABD8-389810A7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Central CAPA and follow-up register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E3DD7-C3C7-464A-8930-53C86C7A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527A4-392C-44C1-BA1B-EA44F1FF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57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09CC8-FE85-4AF0-AE16-38AF3975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575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Permit to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D1C1C-DD98-42FC-B902-C0EF247F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766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Permit types, controls and approval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08176-2611-4BFA-8D99-D491B060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6A67C3-43D6-45BD-AE1D-1F93D3F9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57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9F27"/>
          </a:solidFill>
          <a:ln xmlns:a="http://schemas.openxmlformats.org/drawingml/2006/main" w="9525">
            <a:solidFill>
              <a:srgbClr val="EF9F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32EA8-B237-4640-976C-E8CD8924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575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Risk Assessment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13FFA-DA1D-4AC4-987D-0F15A66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766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RA, JSA, HIRA and PDF import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2FEC8-2F9C-4E36-88CB-61B3DDFD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01FC9-2E82-47B9-A2F2-4A59B790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A8E1AB-0058-48B3-92F5-7B074996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958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Legal Compliance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18C099-78E0-4BD7-8991-566FDEBF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Section-based register and compliance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D16873-BFC9-4B70-A258-12EBFA2B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37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06510F-7BEE-4F73-904D-2230307E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958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51CC95-0812-42B4-B217-BFE8156D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958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Chemical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4D894D-8885-4D29-A4C8-2BCA235A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149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SDS data, exposure profile and risk scoring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71CD9B-81F2-4BB4-B3BC-DE18D2E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8F7F11-AA0F-4485-B9D1-9F097813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958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9F27"/>
          </a:solidFill>
          <a:ln xmlns:a="http://schemas.openxmlformats.org/drawingml/2006/main" w="9525">
            <a:solidFill>
              <a:srgbClr val="EF9F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7F9DF7-D93A-4451-8265-63527F07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958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Audit Trail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51ED68-37CC-4B0F-B934-A4D9B8F7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149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Chronological accountability across key actions</a:t>
            </a:r>
          </a:p>
        </p:txBody>
      </p:sp>
    </p:spTree>
    <p:extLst>
      <p:ext uri="{BB962C8B-B14F-4D97-AF65-F5344CB8AC3E}">
        <p14:creationId xmlns:p14="http://schemas.microsoft.com/office/powerpoint/2010/main" val="1646378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2f15377a74c98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9A016-9664-4700-98E5-6BD994A9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4B652-FEC6-4547-942E-EE1582F4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DE0EE-6172-4A0A-A0FE-9345DD3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Field users can report quickly while managers keep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0A944-2B10-4AF3-A0F8-C3F65BE6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A1421-4D87-41A2-A4D0-5A19AAE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The mobile-first workflows focus on what workers and supervisors need on site: report what happened, add evidence, and move the issue into follow-up.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DC652-E48B-4443-B111-76C38445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67A6E-ECAF-4B23-B247-387B68E1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3F4CD-CC4D-4FA1-A986-FAA7F317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Simple reporting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07316-150B-4F1D-824F-08CF2957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Employees can report incidents or BBS observations without seeing manager-only classification and investigation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4770E-938A-4DF6-AB18-1CB6BD4D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49B50-826F-456C-8AB5-0E4B4402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CB478-E854-494D-A1E8-32928A48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14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Evidence at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1E94B-7482-4B09-BBEA-C8C42AA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338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Photos and uploaded evidence are visible to managers when they open the saved report on desktop.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09B21-53FC-469D-BD98-9A07B194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08475-1F0D-45B9-A79B-A5850EC9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21B6"/>
          </a:solidFill>
          <a:ln xmlns:a="http://schemas.openxmlformats.org/drawingml/2006/main" w="9525">
            <a:solidFill>
              <a:srgbClr val="5B21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D6BAE-AC3C-4DDD-A7DC-64DC607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Role-based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4A58F-C7A8-4DE2-A481-2F95996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Employees, contractors, supervisors, HSE roles and admins see the functions relevant to their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659501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2a21f20f9443e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CC06F-E6A8-4A1E-AAAA-CAEBE90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FFEEB-C6BA-4002-BCFA-06E23145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3C2F0-7778-449A-863A-8AD6DFB4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Professional HSE software must prove who did what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B332E-D1BB-405C-8F40-559D5F1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1638D-21C8-45DF-821C-92D534E6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80C8A-E497-481F-A513-7E1DF697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49951-C5A8-4A59-A549-045716D9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Approval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E5DD1-1B2F-4B7E-92AD-06F1EED2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800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Permits, documents, investigations, risk assessments and other controlled records can follow approval routes before becoming final.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C9AEE-865D-44D1-B580-E2E9AB71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0C419-0FF8-4693-9FBD-938CDF0A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A2EB9-218B-41C6-887B-D970F564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457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FD962-8C46-4291-9685-10686DA6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76550"/>
            <a:ext cx="2800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Key create, update and delete actions are logged with user, role, module, record reference and changed fields.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683FC-59CF-494C-A48F-600C19DB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9127E-B4E7-4FC5-B4CB-04CEEFB0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9F27"/>
          </a:solidFill>
          <a:ln xmlns:a="http://schemas.openxmlformats.org/drawingml/2006/main" w="9525">
            <a:solidFill>
              <a:srgbClr val="EF9F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C58FD-05DD-44C2-9787-80AD537E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Notification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2B473-AEFF-4D1F-850B-1957D299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800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Company admins can define who receives alerts by event type and workflow stage. Email is active, with WhatsApp/SMS as a future channel.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51314-80C6-4867-AE0D-95B4CDF1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This is what gives clients confidence that the system is not just a register, but a controlled management process.</a:t>
            </a:r>
          </a:p>
        </p:txBody>
      </p:sp>
    </p:spTree>
    <p:extLst>
      <p:ext uri="{BB962C8B-B14F-4D97-AF65-F5344CB8AC3E}">
        <p14:creationId xmlns:p14="http://schemas.microsoft.com/office/powerpoint/2010/main" val="1112929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3d638758a4704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82AF5-EA32-4327-8026-1D34CBF8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61362-9BF0-4FCE-9399-EA400D41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AI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0F60F-BB2B-4485-BEC9-FA3FDE40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AURIS AI adds guidance without replacing professional judgement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1D545-3F81-47B8-9C3A-9F5C0FB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292F6-1017-444D-A05B-5A2CB20D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AI features are designed to assist HSE teams with drafting, analysis and prioritisation. Outputs remain reviewable by competent persons before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2BCF3-04FE-45DC-868F-A8DBC69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212E8-CA82-43C9-BD93-81459CF3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21B6"/>
          </a:solidFill>
          <a:ln xmlns:a="http://schemas.openxmlformats.org/drawingml/2006/main" w="9525">
            <a:solidFill>
              <a:srgbClr val="5B21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D6AE1-7626-4136-BEC7-9AFCE77D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670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Performance 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E19E0-C9B5-40EB-A1D5-2799724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Ask questions about incidents, actions, KPIs, training, legal gaps and risk trends.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BF94-EB55-4551-9E02-AAE917EA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974D2-0D3D-4E71-BB08-D2141A53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670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721C5-322F-437D-B8EB-CCDC40C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670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Document generation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6C379-02F7-4067-871F-24C80CB1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86175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Prepare RAMS, toolbox talks, compliance checks and draft procedures from operational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46636-F529-452D-A445-5FC516C1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ECC4C-3926-4E14-AC11-02805DE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670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9F5D6-312D-4A5A-ABDA-93AE1950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670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Predictive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13D33-B365-4F02-8CE9-357A7D1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86175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Use incident and near-miss patterns to highlight likely risk areas and suggest controls.</a:t>
            </a:r>
          </a:p>
        </p:txBody>
      </p:sp>
    </p:spTree>
    <p:extLst>
      <p:ext uri="{BB962C8B-B14F-4D97-AF65-F5344CB8AC3E}">
        <p14:creationId xmlns:p14="http://schemas.microsoft.com/office/powerpoint/2010/main" val="1565333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68b49535b4101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7BF79-A0D2-4ACF-AA20-2C1092B6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5CA62-101D-4AF1-B8AF-CA866E18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COMING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C6CE8-DA2A-42D7-BD56-E251E8E4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roadmap expands AURIS360 into a full HSE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61566-533B-4EAF-841E-035B2B40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804CC-E4CA-4061-987C-589B0DA1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E9F38-1857-4BF3-8F1A-510626C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735C2-DFC7-49B6-AA26-5C48BD22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1932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Specialist RA libraries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C7866-54AA-422B-AA27-88E28CE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Manual handling, fire, chemical, machinery, fleet and ATEX-specific builders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CA2A6-68A2-44A7-A209-A3578471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E1686-07AE-47DE-87C8-B21FD51E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19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A0764-FDBA-4BD2-9339-8B57D0B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1932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Fleet and equipment maturity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5BBA7-0D65-4AED-A971-35068899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3842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Vehicle checks, fuel logs, RCD testing, tools and equipment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CB348-591C-420F-9853-8151E1EB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69F60-73B7-4A56-8F67-F53A0C0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24233-8E10-4E03-B825-B2375E0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Deeper document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BB5F2-D9B9-4840-B650-D4CDDF1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SDS, RA, method statements, SOPs, permits, evidence and certificates linked together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B3227-4B34-466E-B303-182AD7BF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DE371-9EC9-44AA-B949-D051135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05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686C2-4511-452E-9716-8A46703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505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WhatsApp and SMS alerts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84630-C118-46D5-8D72-6B18B18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243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Alternative channels for users with login-only local addresses or limited email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9E5B3-3717-47A5-8C07-03EA7DDA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EB4B7-59F2-4C5B-9DBE-50FFF1A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910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9F27"/>
          </a:solidFill>
          <a:ln xmlns:a="http://schemas.openxmlformats.org/drawingml/2006/main" w="9525">
            <a:solidFill>
              <a:srgbClr val="EF9F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13F43-F0F3-4601-B8F9-FA2679D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9107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Client portals and branding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D5BF2-1ED2-4823-BF33-3FABF262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017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Company-specific access, branding and future subdomains such as company.auris360.com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943EA-FCB4-426C-9889-8449F88A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196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828FA-D5C2-4E70-A2EB-DDB258AF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910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9F27"/>
          </a:solidFill>
          <a:ln xmlns:a="http://schemas.openxmlformats.org/drawingml/2006/main" w="9525">
            <a:solidFill>
              <a:srgbClr val="EF9F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DB395-44B2-46BD-B1A4-E0031795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79107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Analytics and BI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62FB7-C682-4B0A-BF0E-6AB8EC6F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1017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Executive reporting, trend dashboards, API integrations and Power BI-style reporting</a:t>
            </a:r>
          </a:p>
        </p:txBody>
      </p:sp>
    </p:spTree>
    <p:extLst>
      <p:ext uri="{BB962C8B-B14F-4D97-AF65-F5344CB8AC3E}">
        <p14:creationId xmlns:p14="http://schemas.microsoft.com/office/powerpoint/2010/main" val="1170788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3c308480c4b7d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563D7-7C21-4823-AA8F-7E6CC4E7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87CE2-F7BA-495D-A328-2F2FC192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5E0E0-3C40-476C-B9CB-6BB0E972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Why choose AURIS360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367C8-FCED-4457-BEC1-E80CE5D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C3F32-E856-470C-949E-6DD2DB8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AURIS360 is being built around how HSE work actually happens: fast reporting from the field, disciplined follow-up by managers, and proof for clients, auditors and regulators.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0B19A-1E89-411B-A000-D4372EB9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78811-65B4-4826-A14D-955D95BA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57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F2831-0A94-4BE6-9A75-14E826F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5757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Local HSE understanding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1B192-AFF4-4B52-BEC9-40F994CF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Designed with practical HSE consulting experience, not only generic software logic.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C439A-DFEA-445E-9A4E-8DC00BC9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170E9-ABE6-41B1-8338-FD454651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57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5B4C1-F7AE-43B6-A04F-D3C75B8E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End-to-end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29689-C6CF-494E-B8A5-A21103F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7667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Connects incidents, observations, risk, permits, legal, chemicals, actions and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7EE1C-ABCF-48A1-9343-5F853BF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75F06-1091-4B31-A93C-58976668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647A5-8149-483D-86B0-71E3CB50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Controlled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2DBA1-E6B4-4C29-8753-1FB48A0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Approval workflows, notifications and audit trail create accountability.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049D0-8991-49AA-BF27-B44CC4B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B77FC-032E-4A4B-A075-A0ECBEF2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E1627-C8DF-4941-82AA-D72D8B45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434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Expandable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79ECF-57C6-40B1-AEB5-77D1F072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Roadmap covers specialist risks, AI assistance, integrations and client-specific portals.</a:t>
            </a:r>
          </a:p>
        </p:txBody>
      </p:sp>
    </p:spTree>
    <p:extLst>
      <p:ext uri="{BB962C8B-B14F-4D97-AF65-F5344CB8AC3E}">
        <p14:creationId xmlns:p14="http://schemas.microsoft.com/office/powerpoint/2010/main" val="2073388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35a899e6f4538"/>
          <a:stretch xmlns:a="http://schemas.openxmlformats.org/drawingml/2006/main"/>
        </p:blipFill>
        <p:spPr>
          <a:xfrm xmlns:a="http://schemas.openxmlformats.org/drawingml/2006/main">
            <a:off x="51435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B3F5F-138B-41CA-BBB0-93B29F6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E56"/>
                </a:solidFill>
              </a:defRPr>
            </a:pPr>
            <a:r>
              <a:rPr sz="1350" b="1">
                <a:solidFill>
                  <a:srgbClr val="0F6E56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B055C-2AF2-47BF-B7D6-0FB7DA30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8E028-331B-47D5-A491-DC988909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best next step is a controlled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4D6CE-D9D0-417C-8998-0CFFBBEC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9843F-6EC8-4C7E-AFF0-D27BE9B9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382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F6E56"/>
          </a:solidFill>
          <a:ln xmlns:a="http://schemas.openxmlformats.org/drawingml/2006/main" w="9525">
            <a:solidFill>
              <a:srgbClr val="0F6E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084AF-A539-4AF2-B48A-12FBE8A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Start with the modules that matter most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C6F98-1FC9-4BC5-A2FE-4B06F2A9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76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Incident Management · BBS Observations · Objectives &amp; KPIs · Dashboard · 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E40FF-E754-4AE6-899A-0076DC2F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1F5EE"/>
                </a:solidFill>
              </a:defRPr>
            </a:pPr>
            <a:r>
              <a:rPr sz="1650" b="0">
                <a:solidFill>
                  <a:srgbClr val="E1F5EE"/>
                </a:solidFill>
              </a:rPr>
              <a:t>Use real client feedback to refine workflows before broader rollout, while keeping the roadmap visible for future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EFB1F-36F4-4895-A1CC-3C00E710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5EE"/>
          </a:solidFill>
          <a:ln xmlns:a="http://schemas.openxmlformats.org/drawingml/2006/main" w="9525">
            <a:solidFill>
              <a:srgbClr val="E1F5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4C1B1-C2F1-4476-9775-1B1DDFD7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62575"/>
            <a:ext cx="3771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6E56"/>
                </a:solidFill>
              </a:defRPr>
            </a:pPr>
            <a:r>
              <a:rPr sz="975" b="1">
                <a:solidFill>
                  <a:srgbClr val="0F6E56"/>
                </a:solidFill>
              </a:rPr>
              <a:t>AURIS360 by SEPHS Consulting</a:t>
            </a:r>
          </a:p>
        </p:txBody>
      </p:sp>
    </p:spTree>
    <p:extLst>
      <p:ext uri="{BB962C8B-B14F-4D97-AF65-F5344CB8AC3E}">
        <p14:creationId xmlns:p14="http://schemas.microsoft.com/office/powerpoint/2010/main" val="74324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2026-07-02T06:37:27.5140000Z</dcterms:created>
  <dcterms:modified xsi:type="dcterms:W3CDTF">2026-07-02T06:37:27.5140000Z</dcterms:modified>
</coreProperties>
</file>